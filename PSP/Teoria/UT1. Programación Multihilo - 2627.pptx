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7" r:id="rId3"/>
    <p:sldId id="268" r:id="rId4"/>
    <p:sldId id="269" r:id="rId5"/>
    <p:sldId id="270" r:id="rId6"/>
    <p:sldId id="271" r:id="rId7"/>
    <p:sldId id="272" r:id="rId8"/>
    <p:sldId id="273" r:id="rId9"/>
    <p:sldId id="277" r:id="rId10"/>
    <p:sldId id="274" r:id="rId11"/>
    <p:sldId id="275" r:id="rId12"/>
    <p:sldId id="278" r:id="rId13"/>
    <p:sldId id="280" r:id="rId14"/>
    <p:sldId id="279" r:id="rId15"/>
    <p:sldId id="282" r:id="rId16"/>
    <p:sldId id="283" r:id="rId17"/>
    <p:sldId id="281" r:id="rId18"/>
    <p:sldId id="284" r:id="rId19"/>
    <p:sldId id="288" r:id="rId20"/>
    <p:sldId id="297" r:id="rId21"/>
    <p:sldId id="286" r:id="rId22"/>
    <p:sldId id="285" r:id="rId23"/>
    <p:sldId id="292" r:id="rId24"/>
    <p:sldId id="293" r:id="rId25"/>
    <p:sldId id="294" r:id="rId26"/>
    <p:sldId id="295" r:id="rId27"/>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AAF232-8648-4F56-B68D-959552543615}"/>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1AB4311E-513B-4B4A-A6CA-DEC411004F6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AD5EEB66-3D0E-43B9-969A-FB0357888480}"/>
              </a:ext>
            </a:extLst>
          </p:cNvPr>
          <p:cNvSpPr>
            <a:spLocks noGrp="1"/>
          </p:cNvSpPr>
          <p:nvPr>
            <p:ph type="dt" sz="half" idx="10"/>
          </p:nvPr>
        </p:nvSpPr>
        <p:spPr/>
        <p:txBody>
          <a:bodyPr/>
          <a:lstStyle/>
          <a:p>
            <a:fld id="{D30D0B34-21EB-48C1-B7BE-FE8A433EE164}" type="datetimeFigureOut">
              <a:rPr lang="es-ES" smtClean="0"/>
              <a:t>10/09/2026</a:t>
            </a:fld>
            <a:endParaRPr lang="es-ES"/>
          </a:p>
        </p:txBody>
      </p:sp>
      <p:sp>
        <p:nvSpPr>
          <p:cNvPr id="5" name="Marcador de pie de página 4">
            <a:extLst>
              <a:ext uri="{FF2B5EF4-FFF2-40B4-BE49-F238E27FC236}">
                <a16:creationId xmlns:a16="http://schemas.microsoft.com/office/drawing/2014/main" id="{85EE3EA7-0460-4CD1-9F11-B056684B809B}"/>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EF477549-2C0E-4145-88CB-93C6A46DBA1B}"/>
              </a:ext>
            </a:extLst>
          </p:cNvPr>
          <p:cNvSpPr>
            <a:spLocks noGrp="1"/>
          </p:cNvSpPr>
          <p:nvPr>
            <p:ph type="sldNum" sz="quarter" idx="12"/>
          </p:nvPr>
        </p:nvSpPr>
        <p:spPr/>
        <p:txBody>
          <a:bodyPr/>
          <a:lstStyle/>
          <a:p>
            <a:fld id="{7F20F60C-162F-45A4-9F87-C7ED8093D590}" type="slidenum">
              <a:rPr lang="es-ES" smtClean="0"/>
              <a:t>‹Nº›</a:t>
            </a:fld>
            <a:endParaRPr lang="es-ES"/>
          </a:p>
        </p:txBody>
      </p:sp>
    </p:spTree>
    <p:extLst>
      <p:ext uri="{BB962C8B-B14F-4D97-AF65-F5344CB8AC3E}">
        <p14:creationId xmlns:p14="http://schemas.microsoft.com/office/powerpoint/2010/main" val="15321258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53EF17-6527-4706-BFF0-4D6624BF6AFF}"/>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F93080C8-8295-4911-BF25-C3BF09B73DFB}"/>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78144C62-90F2-4283-B404-4ADE5C947667}"/>
              </a:ext>
            </a:extLst>
          </p:cNvPr>
          <p:cNvSpPr>
            <a:spLocks noGrp="1"/>
          </p:cNvSpPr>
          <p:nvPr>
            <p:ph type="dt" sz="half" idx="10"/>
          </p:nvPr>
        </p:nvSpPr>
        <p:spPr/>
        <p:txBody>
          <a:bodyPr/>
          <a:lstStyle/>
          <a:p>
            <a:fld id="{D30D0B34-21EB-48C1-B7BE-FE8A433EE164}" type="datetimeFigureOut">
              <a:rPr lang="es-ES" smtClean="0"/>
              <a:t>10/09/2026</a:t>
            </a:fld>
            <a:endParaRPr lang="es-ES"/>
          </a:p>
        </p:txBody>
      </p:sp>
      <p:sp>
        <p:nvSpPr>
          <p:cNvPr id="5" name="Marcador de pie de página 4">
            <a:extLst>
              <a:ext uri="{FF2B5EF4-FFF2-40B4-BE49-F238E27FC236}">
                <a16:creationId xmlns:a16="http://schemas.microsoft.com/office/drawing/2014/main" id="{D9E3FE92-9E6B-4BFC-96D1-C759DF9E7D04}"/>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11195219-E826-486E-9E29-0EB7D46B112C}"/>
              </a:ext>
            </a:extLst>
          </p:cNvPr>
          <p:cNvSpPr>
            <a:spLocks noGrp="1"/>
          </p:cNvSpPr>
          <p:nvPr>
            <p:ph type="sldNum" sz="quarter" idx="12"/>
          </p:nvPr>
        </p:nvSpPr>
        <p:spPr/>
        <p:txBody>
          <a:bodyPr/>
          <a:lstStyle/>
          <a:p>
            <a:fld id="{7F20F60C-162F-45A4-9F87-C7ED8093D590}" type="slidenum">
              <a:rPr lang="es-ES" smtClean="0"/>
              <a:t>‹Nº›</a:t>
            </a:fld>
            <a:endParaRPr lang="es-ES"/>
          </a:p>
        </p:txBody>
      </p:sp>
    </p:spTree>
    <p:extLst>
      <p:ext uri="{BB962C8B-B14F-4D97-AF65-F5344CB8AC3E}">
        <p14:creationId xmlns:p14="http://schemas.microsoft.com/office/powerpoint/2010/main" val="22770385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11C14CE-0B99-4A55-A0D2-2A77CC3AC4FF}"/>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C9733737-5984-4B8B-8AFE-48EAA27B9F7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68943911-7873-42A6-AE79-877073FEB439}"/>
              </a:ext>
            </a:extLst>
          </p:cNvPr>
          <p:cNvSpPr>
            <a:spLocks noGrp="1"/>
          </p:cNvSpPr>
          <p:nvPr>
            <p:ph type="dt" sz="half" idx="10"/>
          </p:nvPr>
        </p:nvSpPr>
        <p:spPr/>
        <p:txBody>
          <a:bodyPr/>
          <a:lstStyle/>
          <a:p>
            <a:fld id="{D30D0B34-21EB-48C1-B7BE-FE8A433EE164}" type="datetimeFigureOut">
              <a:rPr lang="es-ES" smtClean="0"/>
              <a:t>10/09/2026</a:t>
            </a:fld>
            <a:endParaRPr lang="es-ES"/>
          </a:p>
        </p:txBody>
      </p:sp>
      <p:sp>
        <p:nvSpPr>
          <p:cNvPr id="5" name="Marcador de pie de página 4">
            <a:extLst>
              <a:ext uri="{FF2B5EF4-FFF2-40B4-BE49-F238E27FC236}">
                <a16:creationId xmlns:a16="http://schemas.microsoft.com/office/drawing/2014/main" id="{B05A17E8-8B2E-41E2-9427-531C3222E5CF}"/>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821E2F46-CC1F-4BA9-89C5-EBBB9A71AABB}"/>
              </a:ext>
            </a:extLst>
          </p:cNvPr>
          <p:cNvSpPr>
            <a:spLocks noGrp="1"/>
          </p:cNvSpPr>
          <p:nvPr>
            <p:ph type="sldNum" sz="quarter" idx="12"/>
          </p:nvPr>
        </p:nvSpPr>
        <p:spPr/>
        <p:txBody>
          <a:bodyPr/>
          <a:lstStyle/>
          <a:p>
            <a:fld id="{7F20F60C-162F-45A4-9F87-C7ED8093D590}" type="slidenum">
              <a:rPr lang="es-ES" smtClean="0"/>
              <a:t>‹Nº›</a:t>
            </a:fld>
            <a:endParaRPr lang="es-ES"/>
          </a:p>
        </p:txBody>
      </p:sp>
    </p:spTree>
    <p:extLst>
      <p:ext uri="{BB962C8B-B14F-4D97-AF65-F5344CB8AC3E}">
        <p14:creationId xmlns:p14="http://schemas.microsoft.com/office/powerpoint/2010/main" val="14168371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596012-A5E4-4ABA-BF52-ACE615FA980C}"/>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85F9E33F-93C6-45DC-8188-3184D5C33E82}"/>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4BA18C20-3915-4364-ABDA-DD84DEBFD57F}"/>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47D17ACF-CC85-476E-99D7-1B031E9670C4}"/>
              </a:ext>
            </a:extLst>
          </p:cNvPr>
          <p:cNvSpPr>
            <a:spLocks noGrp="1"/>
          </p:cNvSpPr>
          <p:nvPr>
            <p:ph type="dt" sz="half" idx="10"/>
          </p:nvPr>
        </p:nvSpPr>
        <p:spPr/>
        <p:txBody>
          <a:bodyPr/>
          <a:lstStyle/>
          <a:p>
            <a:fld id="{D30D0B34-21EB-48C1-B7BE-FE8A433EE164}" type="datetimeFigureOut">
              <a:rPr lang="es-ES" smtClean="0"/>
              <a:t>10/09/2026</a:t>
            </a:fld>
            <a:endParaRPr lang="es-ES"/>
          </a:p>
        </p:txBody>
      </p:sp>
      <p:sp>
        <p:nvSpPr>
          <p:cNvPr id="6" name="Marcador de pie de página 5">
            <a:extLst>
              <a:ext uri="{FF2B5EF4-FFF2-40B4-BE49-F238E27FC236}">
                <a16:creationId xmlns:a16="http://schemas.microsoft.com/office/drawing/2014/main" id="{89FD9D6C-FB0D-4B7D-AF3C-FEEE05CD02BE}"/>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CD66C255-C823-4C08-873A-5815AE19D76F}"/>
              </a:ext>
            </a:extLst>
          </p:cNvPr>
          <p:cNvSpPr>
            <a:spLocks noGrp="1"/>
          </p:cNvSpPr>
          <p:nvPr>
            <p:ph type="sldNum" sz="quarter" idx="12"/>
          </p:nvPr>
        </p:nvSpPr>
        <p:spPr/>
        <p:txBody>
          <a:bodyPr/>
          <a:lstStyle/>
          <a:p>
            <a:fld id="{7F20F60C-162F-45A4-9F87-C7ED8093D590}" type="slidenum">
              <a:rPr lang="es-ES" smtClean="0"/>
              <a:t>‹Nº›</a:t>
            </a:fld>
            <a:endParaRPr lang="es-ES"/>
          </a:p>
        </p:txBody>
      </p:sp>
    </p:spTree>
    <p:extLst>
      <p:ext uri="{BB962C8B-B14F-4D97-AF65-F5344CB8AC3E}">
        <p14:creationId xmlns:p14="http://schemas.microsoft.com/office/powerpoint/2010/main" val="24806468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CED801-1992-41AB-AC44-D290290DDE5E}"/>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0665879E-59C4-4FDA-A86D-EE1B83FBAB5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9DE94A25-4634-4520-9469-C921D6669BC0}"/>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3AC1B07F-2BBF-49BB-9D22-447E5201C6C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FF028CD0-48D5-4F6D-93B9-F40FF9917CFB}"/>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57C0F7C1-9761-4AD1-9FC1-200BC6F64B96}"/>
              </a:ext>
            </a:extLst>
          </p:cNvPr>
          <p:cNvSpPr>
            <a:spLocks noGrp="1"/>
          </p:cNvSpPr>
          <p:nvPr>
            <p:ph type="dt" sz="half" idx="10"/>
          </p:nvPr>
        </p:nvSpPr>
        <p:spPr/>
        <p:txBody>
          <a:bodyPr/>
          <a:lstStyle/>
          <a:p>
            <a:fld id="{D30D0B34-21EB-48C1-B7BE-FE8A433EE164}" type="datetimeFigureOut">
              <a:rPr lang="es-ES" smtClean="0"/>
              <a:t>10/09/2026</a:t>
            </a:fld>
            <a:endParaRPr lang="es-ES"/>
          </a:p>
        </p:txBody>
      </p:sp>
      <p:sp>
        <p:nvSpPr>
          <p:cNvPr id="8" name="Marcador de pie de página 7">
            <a:extLst>
              <a:ext uri="{FF2B5EF4-FFF2-40B4-BE49-F238E27FC236}">
                <a16:creationId xmlns:a16="http://schemas.microsoft.com/office/drawing/2014/main" id="{2D3E618F-7476-453C-924C-8EA46F35EF10}"/>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22285B7C-5B1D-4721-A0F9-3F2B9B885A3D}"/>
              </a:ext>
            </a:extLst>
          </p:cNvPr>
          <p:cNvSpPr>
            <a:spLocks noGrp="1"/>
          </p:cNvSpPr>
          <p:nvPr>
            <p:ph type="sldNum" sz="quarter" idx="12"/>
          </p:nvPr>
        </p:nvSpPr>
        <p:spPr/>
        <p:txBody>
          <a:bodyPr/>
          <a:lstStyle/>
          <a:p>
            <a:fld id="{7F20F60C-162F-45A4-9F87-C7ED8093D590}" type="slidenum">
              <a:rPr lang="es-ES" smtClean="0"/>
              <a:t>‹Nº›</a:t>
            </a:fld>
            <a:endParaRPr lang="es-ES"/>
          </a:p>
        </p:txBody>
      </p:sp>
    </p:spTree>
    <p:extLst>
      <p:ext uri="{BB962C8B-B14F-4D97-AF65-F5344CB8AC3E}">
        <p14:creationId xmlns:p14="http://schemas.microsoft.com/office/powerpoint/2010/main" val="3794504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5C82AA-7EB2-4D81-B4C8-076D192668CD}"/>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E047FDD8-05F8-4B73-A48F-E3DE023734C6}"/>
              </a:ext>
            </a:extLst>
          </p:cNvPr>
          <p:cNvSpPr>
            <a:spLocks noGrp="1"/>
          </p:cNvSpPr>
          <p:nvPr>
            <p:ph type="dt" sz="half" idx="10"/>
          </p:nvPr>
        </p:nvSpPr>
        <p:spPr/>
        <p:txBody>
          <a:bodyPr/>
          <a:lstStyle/>
          <a:p>
            <a:fld id="{D30D0B34-21EB-48C1-B7BE-FE8A433EE164}" type="datetimeFigureOut">
              <a:rPr lang="es-ES" smtClean="0"/>
              <a:t>10/09/2026</a:t>
            </a:fld>
            <a:endParaRPr lang="es-ES"/>
          </a:p>
        </p:txBody>
      </p:sp>
      <p:sp>
        <p:nvSpPr>
          <p:cNvPr id="4" name="Marcador de pie de página 3">
            <a:extLst>
              <a:ext uri="{FF2B5EF4-FFF2-40B4-BE49-F238E27FC236}">
                <a16:creationId xmlns:a16="http://schemas.microsoft.com/office/drawing/2014/main" id="{51D0CEED-8613-47CF-8A03-21431BF09A3D}"/>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E522F9C9-E3A4-4BBE-B68C-8D3478128C10}"/>
              </a:ext>
            </a:extLst>
          </p:cNvPr>
          <p:cNvSpPr>
            <a:spLocks noGrp="1"/>
          </p:cNvSpPr>
          <p:nvPr>
            <p:ph type="sldNum" sz="quarter" idx="12"/>
          </p:nvPr>
        </p:nvSpPr>
        <p:spPr/>
        <p:txBody>
          <a:bodyPr/>
          <a:lstStyle/>
          <a:p>
            <a:fld id="{7F20F60C-162F-45A4-9F87-C7ED8093D590}" type="slidenum">
              <a:rPr lang="es-ES" smtClean="0"/>
              <a:t>‹Nº›</a:t>
            </a:fld>
            <a:endParaRPr lang="es-ES"/>
          </a:p>
        </p:txBody>
      </p:sp>
    </p:spTree>
    <p:extLst>
      <p:ext uri="{BB962C8B-B14F-4D97-AF65-F5344CB8AC3E}">
        <p14:creationId xmlns:p14="http://schemas.microsoft.com/office/powerpoint/2010/main" val="3196422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3D106B0-3946-4443-B755-3AAA8A46C180}"/>
              </a:ext>
            </a:extLst>
          </p:cNvPr>
          <p:cNvSpPr>
            <a:spLocks noGrp="1"/>
          </p:cNvSpPr>
          <p:nvPr>
            <p:ph type="dt" sz="half" idx="10"/>
          </p:nvPr>
        </p:nvSpPr>
        <p:spPr/>
        <p:txBody>
          <a:bodyPr/>
          <a:lstStyle/>
          <a:p>
            <a:fld id="{D30D0B34-21EB-48C1-B7BE-FE8A433EE164}" type="datetimeFigureOut">
              <a:rPr lang="es-ES" smtClean="0"/>
              <a:t>10/09/2026</a:t>
            </a:fld>
            <a:endParaRPr lang="es-ES"/>
          </a:p>
        </p:txBody>
      </p:sp>
      <p:sp>
        <p:nvSpPr>
          <p:cNvPr id="3" name="Marcador de pie de página 2">
            <a:extLst>
              <a:ext uri="{FF2B5EF4-FFF2-40B4-BE49-F238E27FC236}">
                <a16:creationId xmlns:a16="http://schemas.microsoft.com/office/drawing/2014/main" id="{DE9F1D98-05FE-4413-A173-36ECFC98ABF8}"/>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48DEBD07-22F9-467F-A238-087B8F1DB992}"/>
              </a:ext>
            </a:extLst>
          </p:cNvPr>
          <p:cNvSpPr>
            <a:spLocks noGrp="1"/>
          </p:cNvSpPr>
          <p:nvPr>
            <p:ph type="sldNum" sz="quarter" idx="12"/>
          </p:nvPr>
        </p:nvSpPr>
        <p:spPr/>
        <p:txBody>
          <a:bodyPr/>
          <a:lstStyle/>
          <a:p>
            <a:fld id="{7F20F60C-162F-45A4-9F87-C7ED8093D590}" type="slidenum">
              <a:rPr lang="es-ES" smtClean="0"/>
              <a:t>‹Nº›</a:t>
            </a:fld>
            <a:endParaRPr lang="es-ES"/>
          </a:p>
        </p:txBody>
      </p:sp>
    </p:spTree>
    <p:extLst>
      <p:ext uri="{BB962C8B-B14F-4D97-AF65-F5344CB8AC3E}">
        <p14:creationId xmlns:p14="http://schemas.microsoft.com/office/powerpoint/2010/main" val="4639086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ACDD4B5-D882-4966-AB6A-A43119FB3469}"/>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42C91DE0-CCF6-4015-B741-B56706F889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0093EE10-7DDB-41E2-9235-F70539FD00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9768BE88-6B18-4CE7-9F45-71FC58B59358}"/>
              </a:ext>
            </a:extLst>
          </p:cNvPr>
          <p:cNvSpPr>
            <a:spLocks noGrp="1"/>
          </p:cNvSpPr>
          <p:nvPr>
            <p:ph type="dt" sz="half" idx="10"/>
          </p:nvPr>
        </p:nvSpPr>
        <p:spPr/>
        <p:txBody>
          <a:bodyPr/>
          <a:lstStyle/>
          <a:p>
            <a:fld id="{D30D0B34-21EB-48C1-B7BE-FE8A433EE164}" type="datetimeFigureOut">
              <a:rPr lang="es-ES" smtClean="0"/>
              <a:t>10/09/2026</a:t>
            </a:fld>
            <a:endParaRPr lang="es-ES"/>
          </a:p>
        </p:txBody>
      </p:sp>
      <p:sp>
        <p:nvSpPr>
          <p:cNvPr id="6" name="Marcador de pie de página 5">
            <a:extLst>
              <a:ext uri="{FF2B5EF4-FFF2-40B4-BE49-F238E27FC236}">
                <a16:creationId xmlns:a16="http://schemas.microsoft.com/office/drawing/2014/main" id="{9C55C4F0-3864-4A75-8B39-FE3488148B9F}"/>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8F85CD87-12C4-4BFC-8DC2-113EF53C60D9}"/>
              </a:ext>
            </a:extLst>
          </p:cNvPr>
          <p:cNvSpPr>
            <a:spLocks noGrp="1"/>
          </p:cNvSpPr>
          <p:nvPr>
            <p:ph type="sldNum" sz="quarter" idx="12"/>
          </p:nvPr>
        </p:nvSpPr>
        <p:spPr/>
        <p:txBody>
          <a:bodyPr/>
          <a:lstStyle/>
          <a:p>
            <a:fld id="{7F20F60C-162F-45A4-9F87-C7ED8093D590}" type="slidenum">
              <a:rPr lang="es-ES" smtClean="0"/>
              <a:t>‹Nº›</a:t>
            </a:fld>
            <a:endParaRPr lang="es-ES"/>
          </a:p>
        </p:txBody>
      </p:sp>
    </p:spTree>
    <p:extLst>
      <p:ext uri="{BB962C8B-B14F-4D97-AF65-F5344CB8AC3E}">
        <p14:creationId xmlns:p14="http://schemas.microsoft.com/office/powerpoint/2010/main" val="2509118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D19BA4-3374-4DE8-A15F-0B9AE15B064A}"/>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AABAC1AA-9126-4AA1-92A9-0BDA4BA2956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EC47A737-580A-4B61-A8D7-0F321A85A7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DEBDE14-638A-48D4-8022-C5A857DEE6FC}"/>
              </a:ext>
            </a:extLst>
          </p:cNvPr>
          <p:cNvSpPr>
            <a:spLocks noGrp="1"/>
          </p:cNvSpPr>
          <p:nvPr>
            <p:ph type="dt" sz="half" idx="10"/>
          </p:nvPr>
        </p:nvSpPr>
        <p:spPr/>
        <p:txBody>
          <a:bodyPr/>
          <a:lstStyle/>
          <a:p>
            <a:fld id="{D30D0B34-21EB-48C1-B7BE-FE8A433EE164}" type="datetimeFigureOut">
              <a:rPr lang="es-ES" smtClean="0"/>
              <a:t>10/09/2026</a:t>
            </a:fld>
            <a:endParaRPr lang="es-ES"/>
          </a:p>
        </p:txBody>
      </p:sp>
      <p:sp>
        <p:nvSpPr>
          <p:cNvPr id="6" name="Marcador de pie de página 5">
            <a:extLst>
              <a:ext uri="{FF2B5EF4-FFF2-40B4-BE49-F238E27FC236}">
                <a16:creationId xmlns:a16="http://schemas.microsoft.com/office/drawing/2014/main" id="{39EFFEDE-E9E0-49BE-8C04-2D5BEF7285E6}"/>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621EAE00-7D56-43BF-8C92-7304D6FDE429}"/>
              </a:ext>
            </a:extLst>
          </p:cNvPr>
          <p:cNvSpPr>
            <a:spLocks noGrp="1"/>
          </p:cNvSpPr>
          <p:nvPr>
            <p:ph type="sldNum" sz="quarter" idx="12"/>
          </p:nvPr>
        </p:nvSpPr>
        <p:spPr/>
        <p:txBody>
          <a:bodyPr/>
          <a:lstStyle/>
          <a:p>
            <a:fld id="{7F20F60C-162F-45A4-9F87-C7ED8093D590}" type="slidenum">
              <a:rPr lang="es-ES" smtClean="0"/>
              <a:t>‹Nº›</a:t>
            </a:fld>
            <a:endParaRPr lang="es-ES"/>
          </a:p>
        </p:txBody>
      </p:sp>
    </p:spTree>
    <p:extLst>
      <p:ext uri="{BB962C8B-B14F-4D97-AF65-F5344CB8AC3E}">
        <p14:creationId xmlns:p14="http://schemas.microsoft.com/office/powerpoint/2010/main" val="38012807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56B8595-1756-45F1-8580-1D0A0E1DE022}"/>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87EA2CEE-3CBB-4783-B58A-0D3C20126DC0}"/>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EF8096D1-FD5A-4440-907A-002123DA2154}"/>
              </a:ext>
            </a:extLst>
          </p:cNvPr>
          <p:cNvSpPr>
            <a:spLocks noGrp="1"/>
          </p:cNvSpPr>
          <p:nvPr>
            <p:ph type="dt" sz="half" idx="10"/>
          </p:nvPr>
        </p:nvSpPr>
        <p:spPr/>
        <p:txBody>
          <a:bodyPr/>
          <a:lstStyle/>
          <a:p>
            <a:fld id="{D30D0B34-21EB-48C1-B7BE-FE8A433EE164}" type="datetimeFigureOut">
              <a:rPr lang="es-ES" smtClean="0"/>
              <a:t>10/09/2026</a:t>
            </a:fld>
            <a:endParaRPr lang="es-ES"/>
          </a:p>
        </p:txBody>
      </p:sp>
      <p:sp>
        <p:nvSpPr>
          <p:cNvPr id="5" name="Marcador de pie de página 4">
            <a:extLst>
              <a:ext uri="{FF2B5EF4-FFF2-40B4-BE49-F238E27FC236}">
                <a16:creationId xmlns:a16="http://schemas.microsoft.com/office/drawing/2014/main" id="{E1982D6B-5F84-4BEF-8BFA-1E14E3293E30}"/>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5017266C-AC08-4E4C-A157-83BAFF92584F}"/>
              </a:ext>
            </a:extLst>
          </p:cNvPr>
          <p:cNvSpPr>
            <a:spLocks noGrp="1"/>
          </p:cNvSpPr>
          <p:nvPr>
            <p:ph type="sldNum" sz="quarter" idx="12"/>
          </p:nvPr>
        </p:nvSpPr>
        <p:spPr/>
        <p:txBody>
          <a:bodyPr/>
          <a:lstStyle/>
          <a:p>
            <a:fld id="{7F20F60C-162F-45A4-9F87-C7ED8093D590}" type="slidenum">
              <a:rPr lang="es-ES" smtClean="0"/>
              <a:t>‹Nº›</a:t>
            </a:fld>
            <a:endParaRPr lang="es-ES"/>
          </a:p>
        </p:txBody>
      </p:sp>
    </p:spTree>
    <p:extLst>
      <p:ext uri="{BB962C8B-B14F-4D97-AF65-F5344CB8AC3E}">
        <p14:creationId xmlns:p14="http://schemas.microsoft.com/office/powerpoint/2010/main" val="4127211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B58F5214-E52A-4F7A-B1AC-2249EB98E3D9}"/>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4C6DA9AB-B3E4-453D-97A4-8A357E78CFF6}"/>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F7184384-2DE1-4547-8C97-DE3204609247}"/>
              </a:ext>
            </a:extLst>
          </p:cNvPr>
          <p:cNvSpPr>
            <a:spLocks noGrp="1"/>
          </p:cNvSpPr>
          <p:nvPr>
            <p:ph type="dt" sz="half" idx="10"/>
          </p:nvPr>
        </p:nvSpPr>
        <p:spPr/>
        <p:txBody>
          <a:bodyPr/>
          <a:lstStyle/>
          <a:p>
            <a:fld id="{D30D0B34-21EB-48C1-B7BE-FE8A433EE164}" type="datetimeFigureOut">
              <a:rPr lang="es-ES" smtClean="0"/>
              <a:t>10/09/2026</a:t>
            </a:fld>
            <a:endParaRPr lang="es-ES"/>
          </a:p>
        </p:txBody>
      </p:sp>
      <p:sp>
        <p:nvSpPr>
          <p:cNvPr id="5" name="Marcador de pie de página 4">
            <a:extLst>
              <a:ext uri="{FF2B5EF4-FFF2-40B4-BE49-F238E27FC236}">
                <a16:creationId xmlns:a16="http://schemas.microsoft.com/office/drawing/2014/main" id="{078BD699-4A66-4B3C-BFCF-4D1414043E9D}"/>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DCCA1CEF-E5F7-4751-9C6D-EAB17E01BDBE}"/>
              </a:ext>
            </a:extLst>
          </p:cNvPr>
          <p:cNvSpPr>
            <a:spLocks noGrp="1"/>
          </p:cNvSpPr>
          <p:nvPr>
            <p:ph type="sldNum" sz="quarter" idx="12"/>
          </p:nvPr>
        </p:nvSpPr>
        <p:spPr/>
        <p:txBody>
          <a:bodyPr/>
          <a:lstStyle/>
          <a:p>
            <a:fld id="{7F20F60C-162F-45A4-9F87-C7ED8093D590}" type="slidenum">
              <a:rPr lang="es-ES" smtClean="0"/>
              <a:t>‹Nº›</a:t>
            </a:fld>
            <a:endParaRPr lang="es-ES"/>
          </a:p>
        </p:txBody>
      </p:sp>
    </p:spTree>
    <p:extLst>
      <p:ext uri="{BB962C8B-B14F-4D97-AF65-F5344CB8AC3E}">
        <p14:creationId xmlns:p14="http://schemas.microsoft.com/office/powerpoint/2010/main" val="6864834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B5E772AC-6642-45C8-839D-41F0450C0E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FB9C7EE7-6CAA-4836-9E5E-FE242E45C9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2B06D9A2-84A6-42A5-A599-C73CF64464E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0D0B34-21EB-48C1-B7BE-FE8A433EE164}" type="datetimeFigureOut">
              <a:rPr lang="es-ES" smtClean="0"/>
              <a:t>10/09/2026</a:t>
            </a:fld>
            <a:endParaRPr lang="es-ES"/>
          </a:p>
        </p:txBody>
      </p:sp>
      <p:sp>
        <p:nvSpPr>
          <p:cNvPr id="5" name="Marcador de pie de página 4">
            <a:extLst>
              <a:ext uri="{FF2B5EF4-FFF2-40B4-BE49-F238E27FC236}">
                <a16:creationId xmlns:a16="http://schemas.microsoft.com/office/drawing/2014/main" id="{88A3B09F-A9D2-4770-9863-D2A44E347F2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a:extLst>
              <a:ext uri="{FF2B5EF4-FFF2-40B4-BE49-F238E27FC236}">
                <a16:creationId xmlns:a16="http://schemas.microsoft.com/office/drawing/2014/main" id="{3146DDAF-0994-4316-93F2-985D81FB346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F20F60C-162F-45A4-9F87-C7ED8093D590}" type="slidenum">
              <a:rPr lang="es-ES" smtClean="0"/>
              <a:t>‹Nº›</a:t>
            </a:fld>
            <a:endParaRPr lang="es-ES"/>
          </a:p>
        </p:txBody>
      </p:sp>
    </p:spTree>
    <p:extLst>
      <p:ext uri="{BB962C8B-B14F-4D97-AF65-F5344CB8AC3E}">
        <p14:creationId xmlns:p14="http://schemas.microsoft.com/office/powerpoint/2010/main" val="13540163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7">
            <a:extLst>
              <a:ext uri="{FF2B5EF4-FFF2-40B4-BE49-F238E27FC236}">
                <a16:creationId xmlns:a16="http://schemas.microsoft.com/office/drawing/2014/main" id="{88294908-8B00-4F58-BBBA-20F71A40AA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9">
            <a:extLst>
              <a:ext uri="{FF2B5EF4-FFF2-40B4-BE49-F238E27FC236}">
                <a16:creationId xmlns:a16="http://schemas.microsoft.com/office/drawing/2014/main" id="{4364C879-1404-4203-8E9D-CC5DE0A621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82782" y="-1386168"/>
            <a:ext cx="2424873" cy="3611191"/>
          </a:xfrm>
          <a:custGeom>
            <a:avLst/>
            <a:gdLst>
              <a:gd name="connsiteX0" fmla="*/ 0 w 2424873"/>
              <a:gd name="connsiteY0" fmla="*/ 2424874 h 3611191"/>
              <a:gd name="connsiteX1" fmla="*/ 2424873 w 2424873"/>
              <a:gd name="connsiteY1" fmla="*/ 0 h 3611191"/>
              <a:gd name="connsiteX2" fmla="*/ 2424873 w 2424873"/>
              <a:gd name="connsiteY2" fmla="*/ 3611191 h 3611191"/>
              <a:gd name="connsiteX3" fmla="*/ 1186317 w 2424873"/>
              <a:gd name="connsiteY3" fmla="*/ 3611191 h 3611191"/>
            </a:gdLst>
            <a:ahLst/>
            <a:cxnLst>
              <a:cxn ang="0">
                <a:pos x="connsiteX0" y="connsiteY0"/>
              </a:cxn>
              <a:cxn ang="0">
                <a:pos x="connsiteX1" y="connsiteY1"/>
              </a:cxn>
              <a:cxn ang="0">
                <a:pos x="connsiteX2" y="connsiteY2"/>
              </a:cxn>
              <a:cxn ang="0">
                <a:pos x="connsiteX3" y="connsiteY3"/>
              </a:cxn>
            </a:cxnLst>
            <a:rect l="l" t="t" r="r" b="b"/>
            <a:pathLst>
              <a:path w="2424873" h="3611191">
                <a:moveTo>
                  <a:pt x="0" y="2424874"/>
                </a:moveTo>
                <a:lnTo>
                  <a:pt x="2424873" y="0"/>
                </a:lnTo>
                <a:lnTo>
                  <a:pt x="2424873" y="3611191"/>
                </a:lnTo>
                <a:lnTo>
                  <a:pt x="1186317" y="361119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Shape 11">
            <a:extLst>
              <a:ext uri="{FF2B5EF4-FFF2-40B4-BE49-F238E27FC236}">
                <a16:creationId xmlns:a16="http://schemas.microsoft.com/office/drawing/2014/main" id="{84617302-4B0D-4351-A6BB-6F0930D943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571000" y="-338582"/>
            <a:ext cx="1635955" cy="1635955"/>
          </a:xfrm>
          <a:custGeom>
            <a:avLst/>
            <a:gdLst>
              <a:gd name="connsiteX0" fmla="*/ 0 w 1635955"/>
              <a:gd name="connsiteY0" fmla="*/ 957987 h 1635955"/>
              <a:gd name="connsiteX1" fmla="*/ 957987 w 1635955"/>
              <a:gd name="connsiteY1" fmla="*/ 0 h 1635955"/>
              <a:gd name="connsiteX2" fmla="*/ 1635955 w 1635955"/>
              <a:gd name="connsiteY2" fmla="*/ 0 h 1635955"/>
              <a:gd name="connsiteX3" fmla="*/ 1635955 w 1635955"/>
              <a:gd name="connsiteY3" fmla="*/ 1635955 h 1635955"/>
              <a:gd name="connsiteX4" fmla="*/ 0 w 1635955"/>
              <a:gd name="connsiteY4" fmla="*/ 1635955 h 1635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5955" h="1635955">
                <a:moveTo>
                  <a:pt x="0" y="957987"/>
                </a:moveTo>
                <a:lnTo>
                  <a:pt x="957987" y="0"/>
                </a:lnTo>
                <a:lnTo>
                  <a:pt x="1635955" y="0"/>
                </a:lnTo>
                <a:lnTo>
                  <a:pt x="1635955" y="1635955"/>
                </a:lnTo>
                <a:lnTo>
                  <a:pt x="0" y="1635955"/>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Shape 13">
            <a:extLst>
              <a:ext uri="{FF2B5EF4-FFF2-40B4-BE49-F238E27FC236}">
                <a16:creationId xmlns:a16="http://schemas.microsoft.com/office/drawing/2014/main" id="{DA2C7802-C2E0-4218-8F89-8DD7CCD2CD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627985" y="-6588"/>
            <a:ext cx="4059393" cy="2548110"/>
          </a:xfrm>
          <a:custGeom>
            <a:avLst/>
            <a:gdLst>
              <a:gd name="connsiteX0" fmla="*/ 0 w 4059393"/>
              <a:gd name="connsiteY0" fmla="*/ 1511282 h 2548110"/>
              <a:gd name="connsiteX1" fmla="*/ 1511282 w 4059393"/>
              <a:gd name="connsiteY1" fmla="*/ 0 h 2548110"/>
              <a:gd name="connsiteX2" fmla="*/ 4059393 w 4059393"/>
              <a:gd name="connsiteY2" fmla="*/ 2548110 h 2548110"/>
              <a:gd name="connsiteX3" fmla="*/ 0 w 4059393"/>
              <a:gd name="connsiteY3" fmla="*/ 2548110 h 2548110"/>
            </a:gdLst>
            <a:ahLst/>
            <a:cxnLst>
              <a:cxn ang="0">
                <a:pos x="connsiteX0" y="connsiteY0"/>
              </a:cxn>
              <a:cxn ang="0">
                <a:pos x="connsiteX1" y="connsiteY1"/>
              </a:cxn>
              <a:cxn ang="0">
                <a:pos x="connsiteX2" y="connsiteY2"/>
              </a:cxn>
              <a:cxn ang="0">
                <a:pos x="connsiteX3" y="connsiteY3"/>
              </a:cxn>
            </a:cxnLst>
            <a:rect l="l" t="t" r="r" b="b"/>
            <a:pathLst>
              <a:path w="4059393" h="2548110">
                <a:moveTo>
                  <a:pt x="0" y="1511282"/>
                </a:moveTo>
                <a:lnTo>
                  <a:pt x="1511282" y="0"/>
                </a:lnTo>
                <a:lnTo>
                  <a:pt x="4059393" y="2548110"/>
                </a:lnTo>
                <a:lnTo>
                  <a:pt x="0" y="2548110"/>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A6D7111A-21E5-4EE9-8A78-10E5530F01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262924" y="1465780"/>
            <a:ext cx="1185708" cy="118570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A3969E80-A77B-49FC-9122-D89AFD5EE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9557" y="5198743"/>
            <a:ext cx="2444907" cy="2366116"/>
          </a:xfrm>
          <a:custGeom>
            <a:avLst/>
            <a:gdLst>
              <a:gd name="connsiteX0" fmla="*/ 0 w 2203753"/>
              <a:gd name="connsiteY0" fmla="*/ 0 h 2132734"/>
              <a:gd name="connsiteX1" fmla="*/ 2203753 w 2203753"/>
              <a:gd name="connsiteY1" fmla="*/ 0 h 2132734"/>
              <a:gd name="connsiteX2" fmla="*/ 2203753 w 2203753"/>
              <a:gd name="connsiteY2" fmla="*/ 576461 h 2132734"/>
              <a:gd name="connsiteX3" fmla="*/ 647480 w 2203753"/>
              <a:gd name="connsiteY3" fmla="*/ 2132734 h 2132734"/>
              <a:gd name="connsiteX4" fmla="*/ 0 w 2203753"/>
              <a:gd name="connsiteY4" fmla="*/ 1485255 h 2132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3753" h="2132734">
                <a:moveTo>
                  <a:pt x="0" y="0"/>
                </a:moveTo>
                <a:lnTo>
                  <a:pt x="2203753" y="0"/>
                </a:lnTo>
                <a:lnTo>
                  <a:pt x="2203753" y="576461"/>
                </a:lnTo>
                <a:lnTo>
                  <a:pt x="647480" y="2132734"/>
                </a:lnTo>
                <a:lnTo>
                  <a:pt x="0" y="1485255"/>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Rectangle 19">
            <a:extLst>
              <a:ext uri="{FF2B5EF4-FFF2-40B4-BE49-F238E27FC236}">
                <a16:creationId xmlns:a16="http://schemas.microsoft.com/office/drawing/2014/main" id="{1849CA57-76BD-4CF2-80BA-D7A46A01B7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769787" y="5439893"/>
            <a:ext cx="928467" cy="928467"/>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FFFFFF"/>
              </a:solidFill>
              <a:effectLst>
                <a:outerShdw blurRad="38100" dist="38100" dir="2700000" algn="tl">
                  <a:srgbClr val="000000">
                    <a:alpha val="43137"/>
                  </a:srgbClr>
                </a:outerShdw>
              </a:effectLst>
            </a:endParaRPr>
          </a:p>
        </p:txBody>
      </p:sp>
      <p:sp>
        <p:nvSpPr>
          <p:cNvPr id="22" name="Freeform: Shape 21">
            <a:extLst>
              <a:ext uri="{FF2B5EF4-FFF2-40B4-BE49-F238E27FC236}">
                <a16:creationId xmlns:a16="http://schemas.microsoft.com/office/drawing/2014/main" id="{35E9085E-E730-4768-83D4-6CB7E98971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401311" y="734311"/>
            <a:ext cx="5389379" cy="5389379"/>
          </a:xfrm>
          <a:custGeom>
            <a:avLst/>
            <a:gdLst>
              <a:gd name="connsiteX0" fmla="*/ 0 w 5389379"/>
              <a:gd name="connsiteY0" fmla="*/ 540040 h 5389379"/>
              <a:gd name="connsiteX1" fmla="*/ 540040 w 5389379"/>
              <a:gd name="connsiteY1" fmla="*/ 0 h 5389379"/>
              <a:gd name="connsiteX2" fmla="*/ 5389379 w 5389379"/>
              <a:gd name="connsiteY2" fmla="*/ 0 h 5389379"/>
              <a:gd name="connsiteX3" fmla="*/ 5389379 w 5389379"/>
              <a:gd name="connsiteY3" fmla="*/ 4838655 h 5389379"/>
              <a:gd name="connsiteX4" fmla="*/ 4838655 w 5389379"/>
              <a:gd name="connsiteY4" fmla="*/ 5389379 h 5389379"/>
              <a:gd name="connsiteX5" fmla="*/ 0 w 5389379"/>
              <a:gd name="connsiteY5" fmla="*/ 5389379 h 5389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89379" h="5389379">
                <a:moveTo>
                  <a:pt x="0" y="540040"/>
                </a:moveTo>
                <a:lnTo>
                  <a:pt x="540040" y="0"/>
                </a:lnTo>
                <a:lnTo>
                  <a:pt x="5389379" y="0"/>
                </a:lnTo>
                <a:lnTo>
                  <a:pt x="5389379" y="4838655"/>
                </a:lnTo>
                <a:lnTo>
                  <a:pt x="4838655" y="5389379"/>
                </a:lnTo>
                <a:lnTo>
                  <a:pt x="0" y="5389379"/>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Shape 23">
            <a:extLst>
              <a:ext uri="{FF2B5EF4-FFF2-40B4-BE49-F238E27FC236}">
                <a16:creationId xmlns:a16="http://schemas.microsoft.com/office/drawing/2014/main" id="{973272FE-A474-4CAE-8CA2-BCC8B476C3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00283" y="33283"/>
            <a:ext cx="6791435" cy="6791435"/>
          </a:xfrm>
          <a:custGeom>
            <a:avLst/>
            <a:gdLst>
              <a:gd name="connsiteX0" fmla="*/ 1860938 w 6791435"/>
              <a:gd name="connsiteY0" fmla="*/ 81158 h 6791435"/>
              <a:gd name="connsiteX1" fmla="*/ 1942096 w 6791435"/>
              <a:gd name="connsiteY1" fmla="*/ 0 h 6791435"/>
              <a:gd name="connsiteX2" fmla="*/ 6791435 w 6791435"/>
              <a:gd name="connsiteY2" fmla="*/ 0 h 6791435"/>
              <a:gd name="connsiteX3" fmla="*/ 6791435 w 6791435"/>
              <a:gd name="connsiteY3" fmla="*/ 4838655 h 6791435"/>
              <a:gd name="connsiteX4" fmla="*/ 6710277 w 6791435"/>
              <a:gd name="connsiteY4" fmla="*/ 4919813 h 6791435"/>
              <a:gd name="connsiteX5" fmla="*/ 6710277 w 6791435"/>
              <a:gd name="connsiteY5" fmla="*/ 81158 h 6791435"/>
              <a:gd name="connsiteX6" fmla="*/ 0 w 6791435"/>
              <a:gd name="connsiteY6" fmla="*/ 1942096 h 6791435"/>
              <a:gd name="connsiteX7" fmla="*/ 81158 w 6791435"/>
              <a:gd name="connsiteY7" fmla="*/ 1860938 h 6791435"/>
              <a:gd name="connsiteX8" fmla="*/ 81158 w 6791435"/>
              <a:gd name="connsiteY8" fmla="*/ 6710277 h 6791435"/>
              <a:gd name="connsiteX9" fmla="*/ 4919813 w 6791435"/>
              <a:gd name="connsiteY9" fmla="*/ 6710277 h 6791435"/>
              <a:gd name="connsiteX10" fmla="*/ 4838655 w 6791435"/>
              <a:gd name="connsiteY10" fmla="*/ 6791435 h 6791435"/>
              <a:gd name="connsiteX11" fmla="*/ 0 w 6791435"/>
              <a:gd name="connsiteY11" fmla="*/ 6791435 h 6791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91435" h="6791435">
                <a:moveTo>
                  <a:pt x="1860938" y="81158"/>
                </a:moveTo>
                <a:lnTo>
                  <a:pt x="1942096" y="0"/>
                </a:lnTo>
                <a:lnTo>
                  <a:pt x="6791435" y="0"/>
                </a:lnTo>
                <a:lnTo>
                  <a:pt x="6791435" y="4838655"/>
                </a:lnTo>
                <a:lnTo>
                  <a:pt x="6710277" y="4919813"/>
                </a:lnTo>
                <a:lnTo>
                  <a:pt x="6710277" y="81158"/>
                </a:lnTo>
                <a:close/>
                <a:moveTo>
                  <a:pt x="0" y="1942096"/>
                </a:moveTo>
                <a:lnTo>
                  <a:pt x="81158" y="1860938"/>
                </a:lnTo>
                <a:lnTo>
                  <a:pt x="81158" y="6710277"/>
                </a:lnTo>
                <a:lnTo>
                  <a:pt x="4919813" y="6710277"/>
                </a:lnTo>
                <a:lnTo>
                  <a:pt x="4838655" y="6791435"/>
                </a:lnTo>
                <a:lnTo>
                  <a:pt x="0" y="6791435"/>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3" name="Subtítulo 2">
            <a:extLst>
              <a:ext uri="{FF2B5EF4-FFF2-40B4-BE49-F238E27FC236}">
                <a16:creationId xmlns:a16="http://schemas.microsoft.com/office/drawing/2014/main" id="{70C42AE7-083E-46B3-83B7-9EA7BD09FB5A}"/>
              </a:ext>
            </a:extLst>
          </p:cNvPr>
          <p:cNvSpPr>
            <a:spLocks noGrp="1"/>
          </p:cNvSpPr>
          <p:nvPr>
            <p:ph type="subTitle" idx="1"/>
          </p:nvPr>
        </p:nvSpPr>
        <p:spPr>
          <a:xfrm>
            <a:off x="4439633" y="4518923"/>
            <a:ext cx="3312734" cy="1141851"/>
          </a:xfrm>
          <a:noFill/>
        </p:spPr>
        <p:txBody>
          <a:bodyPr>
            <a:normAutofit/>
          </a:bodyPr>
          <a:lstStyle/>
          <a:p>
            <a:r>
              <a:rPr lang="es-ES" sz="2000" dirty="0">
                <a:solidFill>
                  <a:srgbClr val="080808"/>
                </a:solidFill>
              </a:rPr>
              <a:t>2ºDAM</a:t>
            </a:r>
          </a:p>
        </p:txBody>
      </p:sp>
      <p:sp>
        <p:nvSpPr>
          <p:cNvPr id="2" name="Título 1">
            <a:extLst>
              <a:ext uri="{FF2B5EF4-FFF2-40B4-BE49-F238E27FC236}">
                <a16:creationId xmlns:a16="http://schemas.microsoft.com/office/drawing/2014/main" id="{CF88C566-263A-4B3E-9C84-3EDF6302D0E3}"/>
              </a:ext>
            </a:extLst>
          </p:cNvPr>
          <p:cNvSpPr>
            <a:spLocks noGrp="1"/>
          </p:cNvSpPr>
          <p:nvPr>
            <p:ph type="ctrTitle"/>
          </p:nvPr>
        </p:nvSpPr>
        <p:spPr>
          <a:xfrm>
            <a:off x="3204642" y="2353641"/>
            <a:ext cx="5782716" cy="2150719"/>
          </a:xfrm>
          <a:noFill/>
        </p:spPr>
        <p:txBody>
          <a:bodyPr anchor="ctr">
            <a:normAutofit/>
          </a:bodyPr>
          <a:lstStyle/>
          <a:p>
            <a:r>
              <a:rPr lang="es-ES" sz="3600" dirty="0">
                <a:solidFill>
                  <a:srgbClr val="080808"/>
                </a:solidFill>
              </a:rPr>
              <a:t>Programación de Servicios y Procesos</a:t>
            </a:r>
            <a:br>
              <a:rPr lang="es-ES" sz="3600" dirty="0">
                <a:solidFill>
                  <a:srgbClr val="080808"/>
                </a:solidFill>
              </a:rPr>
            </a:br>
            <a:r>
              <a:rPr lang="es-ES" sz="3600" dirty="0">
                <a:solidFill>
                  <a:srgbClr val="080808"/>
                </a:solidFill>
              </a:rPr>
              <a:t>UT1 Programación multihilo</a:t>
            </a:r>
          </a:p>
        </p:txBody>
      </p:sp>
      <p:sp>
        <p:nvSpPr>
          <p:cNvPr id="26" name="Freeform: Shape 25">
            <a:extLst>
              <a:ext uri="{FF2B5EF4-FFF2-40B4-BE49-F238E27FC236}">
                <a16:creationId xmlns:a16="http://schemas.microsoft.com/office/drawing/2014/main" id="{E07981EA-05A6-437C-88D7-B377B92B03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629823" y="5457591"/>
            <a:ext cx="2231794" cy="2568811"/>
          </a:xfrm>
          <a:custGeom>
            <a:avLst/>
            <a:gdLst>
              <a:gd name="connsiteX0" fmla="*/ 0 w 2940086"/>
              <a:gd name="connsiteY0" fmla="*/ 0 h 3384061"/>
              <a:gd name="connsiteX1" fmla="*/ 2496112 w 2940086"/>
              <a:gd name="connsiteY1" fmla="*/ 0 h 3384061"/>
              <a:gd name="connsiteX2" fmla="*/ 2940086 w 2940086"/>
              <a:gd name="connsiteY2" fmla="*/ 443975 h 3384061"/>
              <a:gd name="connsiteX3" fmla="*/ 0 w 2940086"/>
              <a:gd name="connsiteY3" fmla="*/ 3384061 h 3384061"/>
            </a:gdLst>
            <a:ahLst/>
            <a:cxnLst>
              <a:cxn ang="0">
                <a:pos x="connsiteX0" y="connsiteY0"/>
              </a:cxn>
              <a:cxn ang="0">
                <a:pos x="connsiteX1" y="connsiteY1"/>
              </a:cxn>
              <a:cxn ang="0">
                <a:pos x="connsiteX2" y="connsiteY2"/>
              </a:cxn>
              <a:cxn ang="0">
                <a:pos x="connsiteX3" y="connsiteY3"/>
              </a:cxn>
            </a:cxnLst>
            <a:rect l="l" t="t" r="r" b="b"/>
            <a:pathLst>
              <a:path w="2940086" h="3384061">
                <a:moveTo>
                  <a:pt x="0" y="0"/>
                </a:moveTo>
                <a:lnTo>
                  <a:pt x="2496112" y="0"/>
                </a:lnTo>
                <a:lnTo>
                  <a:pt x="2940086" y="443975"/>
                </a:lnTo>
                <a:lnTo>
                  <a:pt x="0" y="338406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Rectangle 27">
            <a:extLst>
              <a:ext uri="{FF2B5EF4-FFF2-40B4-BE49-F238E27FC236}">
                <a16:creationId xmlns:a16="http://schemas.microsoft.com/office/drawing/2014/main" id="{15E3C750-986E-4769-B1AE-49289FBEE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720059" y="5243545"/>
            <a:ext cx="959985" cy="959985"/>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8115111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88EEA8BF-AC34-4D10-BDA3-3A3007E142A3}"/>
              </a:ext>
            </a:extLst>
          </p:cNvPr>
          <p:cNvSpPr>
            <a:spLocks noGrp="1"/>
          </p:cNvSpPr>
          <p:nvPr>
            <p:ph type="title"/>
          </p:nvPr>
        </p:nvSpPr>
        <p:spPr>
          <a:xfrm>
            <a:off x="643467" y="321734"/>
            <a:ext cx="10905066" cy="594173"/>
          </a:xfrm>
        </p:spPr>
        <p:txBody>
          <a:bodyPr>
            <a:normAutofit/>
          </a:bodyPr>
          <a:lstStyle/>
          <a:p>
            <a:r>
              <a:rPr lang="es-ES" sz="3600" b="1" u="sng" dirty="0"/>
              <a:t>¿Qué es un hilo (</a:t>
            </a:r>
            <a:r>
              <a:rPr lang="es-ES" sz="3600" b="1" i="1" u="sng" dirty="0" err="1"/>
              <a:t>thread</a:t>
            </a:r>
            <a:r>
              <a:rPr lang="es-ES" sz="3600" b="1" u="sng" dirty="0"/>
              <a:t>)?</a:t>
            </a:r>
          </a:p>
        </p:txBody>
      </p:sp>
      <p:sp>
        <p:nvSpPr>
          <p:cNvPr id="3" name="Marcador de contenido 2">
            <a:extLst>
              <a:ext uri="{FF2B5EF4-FFF2-40B4-BE49-F238E27FC236}">
                <a16:creationId xmlns:a16="http://schemas.microsoft.com/office/drawing/2014/main" id="{B3FA1E7A-1131-493D-8FB5-8EC609B3755A}"/>
              </a:ext>
            </a:extLst>
          </p:cNvPr>
          <p:cNvSpPr>
            <a:spLocks noGrp="1"/>
          </p:cNvSpPr>
          <p:nvPr>
            <p:ph idx="1"/>
          </p:nvPr>
        </p:nvSpPr>
        <p:spPr>
          <a:xfrm>
            <a:off x="643467" y="1062322"/>
            <a:ext cx="10905066" cy="5252531"/>
          </a:xfrm>
        </p:spPr>
        <p:txBody>
          <a:bodyPr>
            <a:normAutofit/>
          </a:bodyPr>
          <a:lstStyle/>
          <a:p>
            <a:r>
              <a:rPr lang="es-ES" sz="2000" dirty="0"/>
              <a:t>Conocido como </a:t>
            </a:r>
            <a:r>
              <a:rPr lang="es-ES" sz="2000" i="1" dirty="0"/>
              <a:t>proceso ligero</a:t>
            </a:r>
          </a:p>
          <a:p>
            <a:r>
              <a:rPr lang="es-ES" sz="2000" dirty="0"/>
              <a:t>Secuencia de código en ejecución en el contexto de un proceso.</a:t>
            </a:r>
          </a:p>
          <a:p>
            <a:r>
              <a:rPr lang="es-ES" sz="2000" dirty="0"/>
              <a:t>Un proceso puede tener de 1 a N hilos ejecutando.</a:t>
            </a:r>
          </a:p>
          <a:p>
            <a:pPr lvl="1"/>
            <a:r>
              <a:rPr lang="es-ES" sz="1600" dirty="0"/>
              <a:t>Todos los hilos de un proceso </a:t>
            </a:r>
            <a:r>
              <a:rPr lang="es-ES" sz="1600" u="sng" dirty="0"/>
              <a:t>comparten código de programa y datos</a:t>
            </a:r>
            <a:r>
              <a:rPr lang="es-ES" sz="1600" dirty="0"/>
              <a:t>.</a:t>
            </a:r>
          </a:p>
          <a:p>
            <a:r>
              <a:rPr lang="es-ES" sz="2000" dirty="0"/>
              <a:t>Entre ellos colaboran y se coordinan para realizar una tarea o varias.</a:t>
            </a:r>
          </a:p>
        </p:txBody>
      </p:sp>
      <p:sp>
        <p:nvSpPr>
          <p:cNvPr id="10"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Elipse 4">
            <a:extLst>
              <a:ext uri="{FF2B5EF4-FFF2-40B4-BE49-F238E27FC236}">
                <a16:creationId xmlns:a16="http://schemas.microsoft.com/office/drawing/2014/main" id="{E7A04B00-2172-491F-9DFC-1C2009DC4607}"/>
              </a:ext>
            </a:extLst>
          </p:cNvPr>
          <p:cNvSpPr/>
          <p:nvPr/>
        </p:nvSpPr>
        <p:spPr>
          <a:xfrm>
            <a:off x="8100098" y="3637352"/>
            <a:ext cx="2942424" cy="2532832"/>
          </a:xfrm>
          <a:prstGeom prst="ellipse">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Elipse 12">
            <a:extLst>
              <a:ext uri="{FF2B5EF4-FFF2-40B4-BE49-F238E27FC236}">
                <a16:creationId xmlns:a16="http://schemas.microsoft.com/office/drawing/2014/main" id="{9EC1FB09-BE83-4953-AE96-EEDC52A96B26}"/>
              </a:ext>
            </a:extLst>
          </p:cNvPr>
          <p:cNvSpPr/>
          <p:nvPr/>
        </p:nvSpPr>
        <p:spPr>
          <a:xfrm>
            <a:off x="4494375" y="3574229"/>
            <a:ext cx="2624882" cy="2287653"/>
          </a:xfrm>
          <a:prstGeom prst="ellipse">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Elipse 14">
            <a:extLst>
              <a:ext uri="{FF2B5EF4-FFF2-40B4-BE49-F238E27FC236}">
                <a16:creationId xmlns:a16="http://schemas.microsoft.com/office/drawing/2014/main" id="{2317A11F-5331-46C4-ADB9-E2B73B26F52B}"/>
              </a:ext>
            </a:extLst>
          </p:cNvPr>
          <p:cNvSpPr/>
          <p:nvPr/>
        </p:nvSpPr>
        <p:spPr>
          <a:xfrm>
            <a:off x="1014060" y="3515346"/>
            <a:ext cx="2403815" cy="2287653"/>
          </a:xfrm>
          <a:prstGeom prst="ellipse">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CuadroTexto 5">
            <a:extLst>
              <a:ext uri="{FF2B5EF4-FFF2-40B4-BE49-F238E27FC236}">
                <a16:creationId xmlns:a16="http://schemas.microsoft.com/office/drawing/2014/main" id="{7D5DD56A-E5DC-49A2-A40B-F2387555425E}"/>
              </a:ext>
            </a:extLst>
          </p:cNvPr>
          <p:cNvSpPr txBox="1"/>
          <p:nvPr/>
        </p:nvSpPr>
        <p:spPr>
          <a:xfrm>
            <a:off x="5390606" y="3099105"/>
            <a:ext cx="1162594" cy="369332"/>
          </a:xfrm>
          <a:prstGeom prst="rect">
            <a:avLst/>
          </a:prstGeom>
          <a:noFill/>
        </p:spPr>
        <p:txBody>
          <a:bodyPr wrap="square" rtlCol="0">
            <a:spAutoFit/>
          </a:bodyPr>
          <a:lstStyle/>
          <a:p>
            <a:r>
              <a:rPr lang="es-ES" b="1" u="sng" dirty="0"/>
              <a:t>Proceso</a:t>
            </a:r>
          </a:p>
        </p:txBody>
      </p:sp>
      <p:sp>
        <p:nvSpPr>
          <p:cNvPr id="17" name="CuadroTexto 16">
            <a:extLst>
              <a:ext uri="{FF2B5EF4-FFF2-40B4-BE49-F238E27FC236}">
                <a16:creationId xmlns:a16="http://schemas.microsoft.com/office/drawing/2014/main" id="{2AF797FF-A364-4563-A69B-AB86DA11AA58}"/>
              </a:ext>
            </a:extLst>
          </p:cNvPr>
          <p:cNvSpPr txBox="1"/>
          <p:nvPr/>
        </p:nvSpPr>
        <p:spPr>
          <a:xfrm>
            <a:off x="1881960" y="3059668"/>
            <a:ext cx="1203478" cy="369332"/>
          </a:xfrm>
          <a:prstGeom prst="rect">
            <a:avLst/>
          </a:prstGeom>
          <a:noFill/>
        </p:spPr>
        <p:txBody>
          <a:bodyPr wrap="square" rtlCol="0">
            <a:spAutoFit/>
          </a:bodyPr>
          <a:lstStyle/>
          <a:p>
            <a:r>
              <a:rPr lang="es-ES" b="1" u="sng" dirty="0"/>
              <a:t>Proceso</a:t>
            </a:r>
          </a:p>
        </p:txBody>
      </p:sp>
      <p:sp>
        <p:nvSpPr>
          <p:cNvPr id="18" name="CuadroTexto 17">
            <a:extLst>
              <a:ext uri="{FF2B5EF4-FFF2-40B4-BE49-F238E27FC236}">
                <a16:creationId xmlns:a16="http://schemas.microsoft.com/office/drawing/2014/main" id="{590A0636-BFED-4A9C-9FC7-714BF72D19AF}"/>
              </a:ext>
            </a:extLst>
          </p:cNvPr>
          <p:cNvSpPr txBox="1"/>
          <p:nvPr/>
        </p:nvSpPr>
        <p:spPr>
          <a:xfrm>
            <a:off x="9037007" y="3141370"/>
            <a:ext cx="1273033" cy="369332"/>
          </a:xfrm>
          <a:prstGeom prst="rect">
            <a:avLst/>
          </a:prstGeom>
          <a:noFill/>
        </p:spPr>
        <p:txBody>
          <a:bodyPr wrap="square" rtlCol="0">
            <a:spAutoFit/>
          </a:bodyPr>
          <a:lstStyle/>
          <a:p>
            <a:r>
              <a:rPr lang="es-ES" b="1" u="sng" dirty="0"/>
              <a:t>Proceso</a:t>
            </a:r>
          </a:p>
        </p:txBody>
      </p:sp>
      <p:sp>
        <p:nvSpPr>
          <p:cNvPr id="19" name="CuadroTexto 18">
            <a:extLst>
              <a:ext uri="{FF2B5EF4-FFF2-40B4-BE49-F238E27FC236}">
                <a16:creationId xmlns:a16="http://schemas.microsoft.com/office/drawing/2014/main" id="{5B0C29B4-5DE3-4F26-A44E-2BDB5B99487F}"/>
              </a:ext>
            </a:extLst>
          </p:cNvPr>
          <p:cNvSpPr txBox="1"/>
          <p:nvPr/>
        </p:nvSpPr>
        <p:spPr>
          <a:xfrm>
            <a:off x="1833525" y="3801791"/>
            <a:ext cx="764369" cy="369332"/>
          </a:xfrm>
          <a:prstGeom prst="rect">
            <a:avLst/>
          </a:prstGeom>
          <a:noFill/>
        </p:spPr>
        <p:txBody>
          <a:bodyPr wrap="square" rtlCol="0">
            <a:spAutoFit/>
          </a:bodyPr>
          <a:lstStyle/>
          <a:p>
            <a:r>
              <a:rPr lang="es-ES" b="1" dirty="0"/>
              <a:t>Hilo 1</a:t>
            </a:r>
          </a:p>
        </p:txBody>
      </p:sp>
      <p:sp>
        <p:nvSpPr>
          <p:cNvPr id="20" name="CuadroTexto 19">
            <a:extLst>
              <a:ext uri="{FF2B5EF4-FFF2-40B4-BE49-F238E27FC236}">
                <a16:creationId xmlns:a16="http://schemas.microsoft.com/office/drawing/2014/main" id="{5F611CD5-3B91-4EA5-9C9C-BE34CC300F96}"/>
              </a:ext>
            </a:extLst>
          </p:cNvPr>
          <p:cNvSpPr txBox="1"/>
          <p:nvPr/>
        </p:nvSpPr>
        <p:spPr>
          <a:xfrm>
            <a:off x="4947462" y="3986457"/>
            <a:ext cx="764369" cy="369332"/>
          </a:xfrm>
          <a:prstGeom prst="rect">
            <a:avLst/>
          </a:prstGeom>
          <a:noFill/>
        </p:spPr>
        <p:txBody>
          <a:bodyPr wrap="square" rtlCol="0">
            <a:spAutoFit/>
          </a:bodyPr>
          <a:lstStyle/>
          <a:p>
            <a:r>
              <a:rPr lang="es-ES" b="1" dirty="0"/>
              <a:t>Hilo 1</a:t>
            </a:r>
          </a:p>
        </p:txBody>
      </p:sp>
      <p:sp>
        <p:nvSpPr>
          <p:cNvPr id="21" name="CuadroTexto 20">
            <a:extLst>
              <a:ext uri="{FF2B5EF4-FFF2-40B4-BE49-F238E27FC236}">
                <a16:creationId xmlns:a16="http://schemas.microsoft.com/office/drawing/2014/main" id="{0193B5F9-0FB8-46A1-A524-2B6C9E78F83C}"/>
              </a:ext>
            </a:extLst>
          </p:cNvPr>
          <p:cNvSpPr txBox="1"/>
          <p:nvPr/>
        </p:nvSpPr>
        <p:spPr>
          <a:xfrm>
            <a:off x="5899637" y="3988742"/>
            <a:ext cx="764369" cy="369332"/>
          </a:xfrm>
          <a:prstGeom prst="rect">
            <a:avLst/>
          </a:prstGeom>
          <a:noFill/>
        </p:spPr>
        <p:txBody>
          <a:bodyPr wrap="square" rtlCol="0">
            <a:spAutoFit/>
          </a:bodyPr>
          <a:lstStyle/>
          <a:p>
            <a:r>
              <a:rPr lang="es-ES" b="1" dirty="0"/>
              <a:t>Hilo 2</a:t>
            </a:r>
          </a:p>
        </p:txBody>
      </p:sp>
      <p:sp>
        <p:nvSpPr>
          <p:cNvPr id="22" name="CuadroTexto 21">
            <a:extLst>
              <a:ext uri="{FF2B5EF4-FFF2-40B4-BE49-F238E27FC236}">
                <a16:creationId xmlns:a16="http://schemas.microsoft.com/office/drawing/2014/main" id="{42E5501F-40D6-4C27-86E2-09241A9648AA}"/>
              </a:ext>
            </a:extLst>
          </p:cNvPr>
          <p:cNvSpPr txBox="1"/>
          <p:nvPr/>
        </p:nvSpPr>
        <p:spPr>
          <a:xfrm>
            <a:off x="8326387" y="4192767"/>
            <a:ext cx="764369" cy="369332"/>
          </a:xfrm>
          <a:prstGeom prst="rect">
            <a:avLst/>
          </a:prstGeom>
          <a:noFill/>
        </p:spPr>
        <p:txBody>
          <a:bodyPr wrap="square" rtlCol="0">
            <a:spAutoFit/>
          </a:bodyPr>
          <a:lstStyle/>
          <a:p>
            <a:r>
              <a:rPr lang="es-ES" b="1" dirty="0"/>
              <a:t>Hilo 1</a:t>
            </a:r>
          </a:p>
        </p:txBody>
      </p:sp>
      <p:sp>
        <p:nvSpPr>
          <p:cNvPr id="23" name="CuadroTexto 22">
            <a:extLst>
              <a:ext uri="{FF2B5EF4-FFF2-40B4-BE49-F238E27FC236}">
                <a16:creationId xmlns:a16="http://schemas.microsoft.com/office/drawing/2014/main" id="{B1560441-922D-4C08-826A-4DF785F79233}"/>
              </a:ext>
            </a:extLst>
          </p:cNvPr>
          <p:cNvSpPr txBox="1"/>
          <p:nvPr/>
        </p:nvSpPr>
        <p:spPr>
          <a:xfrm>
            <a:off x="9211921" y="4171123"/>
            <a:ext cx="764369" cy="369332"/>
          </a:xfrm>
          <a:prstGeom prst="rect">
            <a:avLst/>
          </a:prstGeom>
          <a:noFill/>
        </p:spPr>
        <p:txBody>
          <a:bodyPr wrap="square" rtlCol="0">
            <a:spAutoFit/>
          </a:bodyPr>
          <a:lstStyle/>
          <a:p>
            <a:r>
              <a:rPr lang="es-ES" b="1" dirty="0"/>
              <a:t>Hilo 2</a:t>
            </a:r>
          </a:p>
        </p:txBody>
      </p:sp>
      <p:sp>
        <p:nvSpPr>
          <p:cNvPr id="24" name="CuadroTexto 23">
            <a:extLst>
              <a:ext uri="{FF2B5EF4-FFF2-40B4-BE49-F238E27FC236}">
                <a16:creationId xmlns:a16="http://schemas.microsoft.com/office/drawing/2014/main" id="{F63320E3-A440-4C61-9103-51AB37451D19}"/>
              </a:ext>
            </a:extLst>
          </p:cNvPr>
          <p:cNvSpPr txBox="1"/>
          <p:nvPr/>
        </p:nvSpPr>
        <p:spPr>
          <a:xfrm>
            <a:off x="9956551" y="4171123"/>
            <a:ext cx="764369" cy="369332"/>
          </a:xfrm>
          <a:prstGeom prst="rect">
            <a:avLst/>
          </a:prstGeom>
          <a:noFill/>
        </p:spPr>
        <p:txBody>
          <a:bodyPr wrap="square" rtlCol="0">
            <a:spAutoFit/>
          </a:bodyPr>
          <a:lstStyle/>
          <a:p>
            <a:r>
              <a:rPr lang="es-ES" b="1" dirty="0"/>
              <a:t>Hilo 3</a:t>
            </a:r>
          </a:p>
        </p:txBody>
      </p:sp>
      <p:cxnSp>
        <p:nvCxnSpPr>
          <p:cNvPr id="9" name="Conector recto de flecha 8">
            <a:extLst>
              <a:ext uri="{FF2B5EF4-FFF2-40B4-BE49-F238E27FC236}">
                <a16:creationId xmlns:a16="http://schemas.microsoft.com/office/drawing/2014/main" id="{0505DD14-AC22-4358-975D-A86A0F9393DF}"/>
              </a:ext>
            </a:extLst>
          </p:cNvPr>
          <p:cNvCxnSpPr>
            <a:cxnSpLocks/>
          </p:cNvCxnSpPr>
          <p:nvPr/>
        </p:nvCxnSpPr>
        <p:spPr>
          <a:xfrm>
            <a:off x="2266213" y="4240669"/>
            <a:ext cx="0" cy="1154291"/>
          </a:xfrm>
          <a:prstGeom prst="straightConnector1">
            <a:avLst/>
          </a:prstGeom>
          <a:ln w="38100">
            <a:tailEnd type="triangle" w="lg" len="lg"/>
          </a:ln>
        </p:spPr>
        <p:style>
          <a:lnRef idx="1">
            <a:schemeClr val="accent1"/>
          </a:lnRef>
          <a:fillRef idx="0">
            <a:schemeClr val="accent1"/>
          </a:fillRef>
          <a:effectRef idx="0">
            <a:schemeClr val="accent1"/>
          </a:effectRef>
          <a:fontRef idx="minor">
            <a:schemeClr val="tx1"/>
          </a:fontRef>
        </p:style>
      </p:cxnSp>
      <p:cxnSp>
        <p:nvCxnSpPr>
          <p:cNvPr id="27" name="Conector recto de flecha 26">
            <a:extLst>
              <a:ext uri="{FF2B5EF4-FFF2-40B4-BE49-F238E27FC236}">
                <a16:creationId xmlns:a16="http://schemas.microsoft.com/office/drawing/2014/main" id="{B55A10E0-FFA0-4061-86E2-8B6F617784FC}"/>
              </a:ext>
            </a:extLst>
          </p:cNvPr>
          <p:cNvCxnSpPr>
            <a:cxnSpLocks/>
          </p:cNvCxnSpPr>
          <p:nvPr/>
        </p:nvCxnSpPr>
        <p:spPr>
          <a:xfrm>
            <a:off x="5329646" y="4355789"/>
            <a:ext cx="0" cy="1154291"/>
          </a:xfrm>
          <a:prstGeom prst="straightConnector1">
            <a:avLst/>
          </a:prstGeom>
          <a:ln w="38100">
            <a:tailEnd type="triangle" w="lg" len="lg"/>
          </a:ln>
        </p:spPr>
        <p:style>
          <a:lnRef idx="1">
            <a:schemeClr val="accent1"/>
          </a:lnRef>
          <a:fillRef idx="0">
            <a:schemeClr val="accent1"/>
          </a:fillRef>
          <a:effectRef idx="0">
            <a:schemeClr val="accent1"/>
          </a:effectRef>
          <a:fontRef idx="minor">
            <a:schemeClr val="tx1"/>
          </a:fontRef>
        </p:style>
      </p:cxnSp>
      <p:cxnSp>
        <p:nvCxnSpPr>
          <p:cNvPr id="28" name="Conector recto de flecha 27">
            <a:extLst>
              <a:ext uri="{FF2B5EF4-FFF2-40B4-BE49-F238E27FC236}">
                <a16:creationId xmlns:a16="http://schemas.microsoft.com/office/drawing/2014/main" id="{DB9424BC-0F94-4F35-AF2D-DFE329E3D16D}"/>
              </a:ext>
            </a:extLst>
          </p:cNvPr>
          <p:cNvCxnSpPr>
            <a:cxnSpLocks/>
          </p:cNvCxnSpPr>
          <p:nvPr/>
        </p:nvCxnSpPr>
        <p:spPr>
          <a:xfrm>
            <a:off x="6281821" y="4377433"/>
            <a:ext cx="0" cy="1154291"/>
          </a:xfrm>
          <a:prstGeom prst="straightConnector1">
            <a:avLst/>
          </a:prstGeom>
          <a:ln w="38100">
            <a:tailEnd type="triangle" w="lg" len="lg"/>
          </a:ln>
        </p:spPr>
        <p:style>
          <a:lnRef idx="1">
            <a:schemeClr val="accent1"/>
          </a:lnRef>
          <a:fillRef idx="0">
            <a:schemeClr val="accent1"/>
          </a:fillRef>
          <a:effectRef idx="0">
            <a:schemeClr val="accent1"/>
          </a:effectRef>
          <a:fontRef idx="minor">
            <a:schemeClr val="tx1"/>
          </a:fontRef>
        </p:style>
      </p:cxnSp>
      <p:cxnSp>
        <p:nvCxnSpPr>
          <p:cNvPr id="29" name="Conector recto de flecha 28">
            <a:extLst>
              <a:ext uri="{FF2B5EF4-FFF2-40B4-BE49-F238E27FC236}">
                <a16:creationId xmlns:a16="http://schemas.microsoft.com/office/drawing/2014/main" id="{E72BA5AA-0A67-4B1B-8BBA-D023CB8D389E}"/>
              </a:ext>
            </a:extLst>
          </p:cNvPr>
          <p:cNvCxnSpPr>
            <a:cxnSpLocks/>
          </p:cNvCxnSpPr>
          <p:nvPr/>
        </p:nvCxnSpPr>
        <p:spPr>
          <a:xfrm>
            <a:off x="8713768" y="4562099"/>
            <a:ext cx="0" cy="1154291"/>
          </a:xfrm>
          <a:prstGeom prst="straightConnector1">
            <a:avLst/>
          </a:prstGeom>
          <a:ln w="38100">
            <a:tailEnd type="triangle" w="lg" len="lg"/>
          </a:ln>
        </p:spPr>
        <p:style>
          <a:lnRef idx="1">
            <a:schemeClr val="accent1"/>
          </a:lnRef>
          <a:fillRef idx="0">
            <a:schemeClr val="accent1"/>
          </a:fillRef>
          <a:effectRef idx="0">
            <a:schemeClr val="accent1"/>
          </a:effectRef>
          <a:fontRef idx="minor">
            <a:schemeClr val="tx1"/>
          </a:fontRef>
        </p:style>
      </p:cxnSp>
      <p:cxnSp>
        <p:nvCxnSpPr>
          <p:cNvPr id="30" name="Conector recto de flecha 29">
            <a:extLst>
              <a:ext uri="{FF2B5EF4-FFF2-40B4-BE49-F238E27FC236}">
                <a16:creationId xmlns:a16="http://schemas.microsoft.com/office/drawing/2014/main" id="{3056DDE3-37B2-4A8B-951F-056DD969EDFE}"/>
              </a:ext>
            </a:extLst>
          </p:cNvPr>
          <p:cNvCxnSpPr>
            <a:cxnSpLocks/>
          </p:cNvCxnSpPr>
          <p:nvPr/>
        </p:nvCxnSpPr>
        <p:spPr>
          <a:xfrm>
            <a:off x="9541330" y="4586507"/>
            <a:ext cx="0" cy="1154291"/>
          </a:xfrm>
          <a:prstGeom prst="straightConnector1">
            <a:avLst/>
          </a:prstGeom>
          <a:ln w="38100">
            <a:tailEnd type="triangle" w="lg" len="lg"/>
          </a:ln>
        </p:spPr>
        <p:style>
          <a:lnRef idx="1">
            <a:schemeClr val="accent1"/>
          </a:lnRef>
          <a:fillRef idx="0">
            <a:schemeClr val="accent1"/>
          </a:fillRef>
          <a:effectRef idx="0">
            <a:schemeClr val="accent1"/>
          </a:effectRef>
          <a:fontRef idx="minor">
            <a:schemeClr val="tx1"/>
          </a:fontRef>
        </p:style>
      </p:cxnSp>
      <p:cxnSp>
        <p:nvCxnSpPr>
          <p:cNvPr id="31" name="Conector recto de flecha 30">
            <a:extLst>
              <a:ext uri="{FF2B5EF4-FFF2-40B4-BE49-F238E27FC236}">
                <a16:creationId xmlns:a16="http://schemas.microsoft.com/office/drawing/2014/main" id="{8724A453-8E2A-40B8-99A8-8F45BE4F6F37}"/>
              </a:ext>
            </a:extLst>
          </p:cNvPr>
          <p:cNvCxnSpPr>
            <a:cxnSpLocks/>
          </p:cNvCxnSpPr>
          <p:nvPr/>
        </p:nvCxnSpPr>
        <p:spPr>
          <a:xfrm>
            <a:off x="10338735" y="4562099"/>
            <a:ext cx="0" cy="1154291"/>
          </a:xfrm>
          <a:prstGeom prst="straightConnector1">
            <a:avLst/>
          </a:prstGeom>
          <a:ln w="38100">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30432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88EEA8BF-AC34-4D10-BDA3-3A3007E142A3}"/>
              </a:ext>
            </a:extLst>
          </p:cNvPr>
          <p:cNvSpPr>
            <a:spLocks noGrp="1"/>
          </p:cNvSpPr>
          <p:nvPr>
            <p:ph type="title"/>
          </p:nvPr>
        </p:nvSpPr>
        <p:spPr>
          <a:xfrm>
            <a:off x="643467" y="321734"/>
            <a:ext cx="10905066" cy="594173"/>
          </a:xfrm>
        </p:spPr>
        <p:txBody>
          <a:bodyPr>
            <a:normAutofit/>
          </a:bodyPr>
          <a:lstStyle/>
          <a:p>
            <a:r>
              <a:rPr lang="es-ES" sz="3600" b="1" u="sng" dirty="0"/>
              <a:t>¿Por qué usar hilos (</a:t>
            </a:r>
            <a:r>
              <a:rPr lang="es-ES" sz="3600" b="1" i="1" u="sng" dirty="0" err="1"/>
              <a:t>threads</a:t>
            </a:r>
            <a:r>
              <a:rPr lang="es-ES" sz="3600" b="1" u="sng" dirty="0"/>
              <a:t>)?</a:t>
            </a:r>
          </a:p>
        </p:txBody>
      </p:sp>
      <p:sp>
        <p:nvSpPr>
          <p:cNvPr id="3" name="Marcador de contenido 2">
            <a:extLst>
              <a:ext uri="{FF2B5EF4-FFF2-40B4-BE49-F238E27FC236}">
                <a16:creationId xmlns:a16="http://schemas.microsoft.com/office/drawing/2014/main" id="{B3FA1E7A-1131-493D-8FB5-8EC609B3755A}"/>
              </a:ext>
            </a:extLst>
          </p:cNvPr>
          <p:cNvSpPr>
            <a:spLocks noGrp="1"/>
          </p:cNvSpPr>
          <p:nvPr>
            <p:ph idx="1"/>
          </p:nvPr>
        </p:nvSpPr>
        <p:spPr>
          <a:xfrm>
            <a:off x="643467" y="1062322"/>
            <a:ext cx="10905066" cy="5252531"/>
          </a:xfrm>
        </p:spPr>
        <p:txBody>
          <a:bodyPr>
            <a:normAutofit/>
          </a:bodyPr>
          <a:lstStyle/>
          <a:p>
            <a:r>
              <a:rPr lang="es-ES" sz="2000" dirty="0"/>
              <a:t>Programas que tengan que realizar tareas lo más simultáneamente posibles</a:t>
            </a:r>
          </a:p>
          <a:p>
            <a:r>
              <a:rPr lang="es-ES" sz="2000" dirty="0"/>
              <a:t>Por </a:t>
            </a:r>
            <a:r>
              <a:rPr lang="es-ES" sz="2000" dirty="0" err="1"/>
              <a:t>ej</a:t>
            </a:r>
            <a:r>
              <a:rPr lang="es-ES" sz="2000" dirty="0"/>
              <a:t>: sensores en una fábrica</a:t>
            </a:r>
          </a:p>
          <a:p>
            <a:pPr lvl="1"/>
            <a:r>
              <a:rPr lang="es-ES" sz="1600" dirty="0"/>
              <a:t>Cada sensor es un hilo independiente </a:t>
            </a:r>
          </a:p>
          <a:p>
            <a:pPr lvl="1"/>
            <a:r>
              <a:rPr lang="es-ES" sz="1600" dirty="0"/>
              <a:t>Cada hilo recoge una información distinta</a:t>
            </a:r>
          </a:p>
          <a:p>
            <a:r>
              <a:rPr lang="es-ES" sz="2000" dirty="0"/>
              <a:t>Por </a:t>
            </a:r>
            <a:r>
              <a:rPr lang="es-ES" sz="2000" dirty="0" err="1"/>
              <a:t>ej</a:t>
            </a:r>
            <a:r>
              <a:rPr lang="es-ES" sz="2000" dirty="0"/>
              <a:t>: procesador de textos</a:t>
            </a:r>
          </a:p>
          <a:p>
            <a:pPr lvl="1"/>
            <a:r>
              <a:rPr lang="es-ES" sz="1600" dirty="0"/>
              <a:t>Un hilo puede estar comprobando la gramática del texto que se está escribiendo</a:t>
            </a:r>
          </a:p>
          <a:p>
            <a:pPr lvl="1"/>
            <a:r>
              <a:rPr lang="es-ES" sz="1600" dirty="0"/>
              <a:t>Otro hilo guardando en el disco duro los cambios</a:t>
            </a:r>
          </a:p>
          <a:p>
            <a:r>
              <a:rPr lang="es-ES" sz="2000" dirty="0"/>
              <a:t>Por </a:t>
            </a:r>
            <a:r>
              <a:rPr lang="es-ES" sz="2000" dirty="0" err="1"/>
              <a:t>ej</a:t>
            </a:r>
            <a:r>
              <a:rPr lang="es-ES" sz="2000" dirty="0"/>
              <a:t>: servidores web</a:t>
            </a:r>
          </a:p>
          <a:p>
            <a:pPr lvl="1"/>
            <a:r>
              <a:rPr lang="es-ES" sz="1600" dirty="0"/>
              <a:t>Cada petición al servidor puede ser atendida por un hilo distinto. De esa forma se mejora el tiempo de respuesta.</a:t>
            </a:r>
          </a:p>
          <a:p>
            <a:r>
              <a:rPr lang="es-ES" sz="2000" dirty="0"/>
              <a:t>Juegos</a:t>
            </a:r>
          </a:p>
          <a:p>
            <a:pPr lvl="1"/>
            <a:r>
              <a:rPr lang="es-ES" sz="1600" dirty="0"/>
              <a:t>Cada elemento que interviene en el juego e interactúa con los demás podría programarse con múltiples hilos en ejecución</a:t>
            </a:r>
          </a:p>
          <a:p>
            <a:pPr lvl="1"/>
            <a:endParaRPr lang="es-ES" sz="1600" dirty="0"/>
          </a:p>
          <a:p>
            <a:endParaRPr lang="es-ES" sz="2000" dirty="0"/>
          </a:p>
          <a:p>
            <a:pPr lvl="1"/>
            <a:endParaRPr lang="es-ES" sz="1600" dirty="0"/>
          </a:p>
        </p:txBody>
      </p:sp>
      <p:sp>
        <p:nvSpPr>
          <p:cNvPr id="10"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4471357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88EEA8BF-AC34-4D10-BDA3-3A3007E142A3}"/>
              </a:ext>
            </a:extLst>
          </p:cNvPr>
          <p:cNvSpPr>
            <a:spLocks noGrp="1"/>
          </p:cNvSpPr>
          <p:nvPr>
            <p:ph type="title"/>
          </p:nvPr>
        </p:nvSpPr>
        <p:spPr>
          <a:xfrm>
            <a:off x="643467" y="321734"/>
            <a:ext cx="10905066" cy="594173"/>
          </a:xfrm>
        </p:spPr>
        <p:txBody>
          <a:bodyPr>
            <a:normAutofit/>
          </a:bodyPr>
          <a:lstStyle/>
          <a:p>
            <a:r>
              <a:rPr lang="es-ES" sz="3600" b="1" u="sng" dirty="0"/>
              <a:t>Características de un hilo (</a:t>
            </a:r>
            <a:r>
              <a:rPr lang="es-ES" sz="3600" b="1" i="1" u="sng" dirty="0" err="1"/>
              <a:t>thread</a:t>
            </a:r>
            <a:r>
              <a:rPr lang="es-ES" sz="3600" b="1" u="sng" dirty="0"/>
              <a:t>)</a:t>
            </a:r>
          </a:p>
        </p:txBody>
      </p:sp>
      <p:sp>
        <p:nvSpPr>
          <p:cNvPr id="3" name="Marcador de contenido 2">
            <a:extLst>
              <a:ext uri="{FF2B5EF4-FFF2-40B4-BE49-F238E27FC236}">
                <a16:creationId xmlns:a16="http://schemas.microsoft.com/office/drawing/2014/main" id="{B3FA1E7A-1131-493D-8FB5-8EC609B3755A}"/>
              </a:ext>
            </a:extLst>
          </p:cNvPr>
          <p:cNvSpPr>
            <a:spLocks noGrp="1"/>
          </p:cNvSpPr>
          <p:nvPr>
            <p:ph idx="1"/>
          </p:nvPr>
        </p:nvSpPr>
        <p:spPr>
          <a:xfrm>
            <a:off x="507030" y="942275"/>
            <a:ext cx="10905066" cy="2466977"/>
          </a:xfrm>
        </p:spPr>
        <p:txBody>
          <a:bodyPr>
            <a:normAutofit/>
          </a:bodyPr>
          <a:lstStyle/>
          <a:p>
            <a:r>
              <a:rPr lang="es-ES" sz="2000" dirty="0"/>
              <a:t>Todos los hilos de un proceso </a:t>
            </a:r>
            <a:r>
              <a:rPr lang="es-ES" sz="2000" b="1" u="sng" dirty="0"/>
              <a:t>comparten</a:t>
            </a:r>
            <a:r>
              <a:rPr lang="es-ES" sz="2000" dirty="0"/>
              <a:t>:</a:t>
            </a:r>
          </a:p>
          <a:p>
            <a:pPr lvl="1"/>
            <a:r>
              <a:rPr lang="es-ES" sz="1600" dirty="0"/>
              <a:t>El </a:t>
            </a:r>
            <a:r>
              <a:rPr lang="es-ES" sz="1600" u="sng" dirty="0"/>
              <a:t>código</a:t>
            </a:r>
            <a:r>
              <a:rPr lang="es-ES" sz="1600" dirty="0"/>
              <a:t> general</a:t>
            </a:r>
          </a:p>
          <a:p>
            <a:pPr lvl="1"/>
            <a:r>
              <a:rPr lang="es-ES" sz="1600" dirty="0"/>
              <a:t>El </a:t>
            </a:r>
            <a:r>
              <a:rPr lang="es-ES" sz="1600" u="sng" dirty="0"/>
              <a:t>espacio de memoria </a:t>
            </a:r>
            <a:r>
              <a:rPr lang="es-ES" sz="1600" dirty="0"/>
              <a:t>asignado al proceso</a:t>
            </a:r>
          </a:p>
          <a:p>
            <a:pPr lvl="1"/>
            <a:r>
              <a:rPr lang="es-ES" sz="1600" dirty="0"/>
              <a:t>La </a:t>
            </a:r>
            <a:r>
              <a:rPr lang="es-ES" sz="1600" u="sng" dirty="0"/>
              <a:t>información de acceso a ficheros y control de dispositivos de Entrada/Salida</a:t>
            </a:r>
            <a:r>
              <a:rPr lang="es-ES" sz="1600" dirty="0"/>
              <a:t>.</a:t>
            </a:r>
          </a:p>
          <a:p>
            <a:r>
              <a:rPr lang="es-ES" sz="2000" dirty="0"/>
              <a:t>En cambio, cada hilo posee sus propios valores de BCP (bloque de control de proceso):</a:t>
            </a:r>
          </a:p>
          <a:p>
            <a:pPr lvl="1"/>
            <a:r>
              <a:rPr lang="es-ES" sz="1600" dirty="0"/>
              <a:t>Contador de programa</a:t>
            </a:r>
          </a:p>
          <a:p>
            <a:pPr lvl="1"/>
            <a:r>
              <a:rPr lang="es-ES" sz="1600" dirty="0"/>
              <a:t>Los registros del procesador</a:t>
            </a:r>
          </a:p>
          <a:p>
            <a:pPr lvl="1"/>
            <a:r>
              <a:rPr lang="es-ES" sz="1600" dirty="0"/>
              <a:t>El estado de su pila (</a:t>
            </a:r>
            <a:r>
              <a:rPr lang="es-ES" sz="1600" i="1" dirty="0" err="1"/>
              <a:t>stack</a:t>
            </a:r>
            <a:r>
              <a:rPr lang="es-ES" sz="1600" dirty="0"/>
              <a:t>): se guarda información acerca de las llamadas en curso y los datos locales</a:t>
            </a:r>
          </a:p>
          <a:p>
            <a:endParaRPr lang="es-ES" sz="2200" dirty="0"/>
          </a:p>
        </p:txBody>
      </p:sp>
      <p:sp>
        <p:nvSpPr>
          <p:cNvPr id="10"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Rectángulo 3">
            <a:extLst>
              <a:ext uri="{FF2B5EF4-FFF2-40B4-BE49-F238E27FC236}">
                <a16:creationId xmlns:a16="http://schemas.microsoft.com/office/drawing/2014/main" id="{47F64153-A5BB-4E59-B594-77F36CE75A47}"/>
              </a:ext>
            </a:extLst>
          </p:cNvPr>
          <p:cNvSpPr/>
          <p:nvPr/>
        </p:nvSpPr>
        <p:spPr>
          <a:xfrm>
            <a:off x="1631401" y="3654568"/>
            <a:ext cx="3482230" cy="277268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3" name="Rectángulo 32">
            <a:extLst>
              <a:ext uri="{FF2B5EF4-FFF2-40B4-BE49-F238E27FC236}">
                <a16:creationId xmlns:a16="http://schemas.microsoft.com/office/drawing/2014/main" id="{AADF3D90-6089-4671-83B6-DC971D8352D8}"/>
              </a:ext>
            </a:extLst>
          </p:cNvPr>
          <p:cNvSpPr/>
          <p:nvPr/>
        </p:nvSpPr>
        <p:spPr>
          <a:xfrm>
            <a:off x="1631401" y="3468189"/>
            <a:ext cx="3482230" cy="64007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4" name="Rectángulo 33">
            <a:extLst>
              <a:ext uri="{FF2B5EF4-FFF2-40B4-BE49-F238E27FC236}">
                <a16:creationId xmlns:a16="http://schemas.microsoft.com/office/drawing/2014/main" id="{917797F5-EA87-4D27-814E-51FF0252A32C}"/>
              </a:ext>
            </a:extLst>
          </p:cNvPr>
          <p:cNvSpPr/>
          <p:nvPr/>
        </p:nvSpPr>
        <p:spPr>
          <a:xfrm>
            <a:off x="1631400" y="4114799"/>
            <a:ext cx="3482230" cy="640079"/>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5" name="Rectángulo 34">
            <a:extLst>
              <a:ext uri="{FF2B5EF4-FFF2-40B4-BE49-F238E27FC236}">
                <a16:creationId xmlns:a16="http://schemas.microsoft.com/office/drawing/2014/main" id="{BD91C504-2ED5-4BA3-8E47-E00E4997759E}"/>
              </a:ext>
            </a:extLst>
          </p:cNvPr>
          <p:cNvSpPr/>
          <p:nvPr/>
        </p:nvSpPr>
        <p:spPr>
          <a:xfrm>
            <a:off x="1729637" y="3571835"/>
            <a:ext cx="998588" cy="43573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Código</a:t>
            </a:r>
          </a:p>
        </p:txBody>
      </p:sp>
      <p:sp>
        <p:nvSpPr>
          <p:cNvPr id="36" name="Rectángulo 35">
            <a:extLst>
              <a:ext uri="{FF2B5EF4-FFF2-40B4-BE49-F238E27FC236}">
                <a16:creationId xmlns:a16="http://schemas.microsoft.com/office/drawing/2014/main" id="{C299417C-A032-4E33-B0A5-12A210441C36}"/>
              </a:ext>
            </a:extLst>
          </p:cNvPr>
          <p:cNvSpPr/>
          <p:nvPr/>
        </p:nvSpPr>
        <p:spPr>
          <a:xfrm>
            <a:off x="2826461" y="3571835"/>
            <a:ext cx="998588" cy="43573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Datos</a:t>
            </a:r>
          </a:p>
        </p:txBody>
      </p:sp>
      <p:sp>
        <p:nvSpPr>
          <p:cNvPr id="37" name="Rectángulo 36">
            <a:extLst>
              <a:ext uri="{FF2B5EF4-FFF2-40B4-BE49-F238E27FC236}">
                <a16:creationId xmlns:a16="http://schemas.microsoft.com/office/drawing/2014/main" id="{4C2DB598-7A61-433C-9731-B940CEB64A3D}"/>
              </a:ext>
            </a:extLst>
          </p:cNvPr>
          <p:cNvSpPr/>
          <p:nvPr/>
        </p:nvSpPr>
        <p:spPr>
          <a:xfrm>
            <a:off x="3930537" y="3561456"/>
            <a:ext cx="998588" cy="43573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Ficheros</a:t>
            </a:r>
          </a:p>
        </p:txBody>
      </p:sp>
      <p:sp>
        <p:nvSpPr>
          <p:cNvPr id="38" name="Rectángulo 37">
            <a:extLst>
              <a:ext uri="{FF2B5EF4-FFF2-40B4-BE49-F238E27FC236}">
                <a16:creationId xmlns:a16="http://schemas.microsoft.com/office/drawing/2014/main" id="{0AF000BE-3D28-4724-9D71-862B547B219D}"/>
              </a:ext>
            </a:extLst>
          </p:cNvPr>
          <p:cNvSpPr/>
          <p:nvPr/>
        </p:nvSpPr>
        <p:spPr>
          <a:xfrm>
            <a:off x="1729637" y="4195747"/>
            <a:ext cx="1096824" cy="43573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Registros</a:t>
            </a:r>
          </a:p>
        </p:txBody>
      </p:sp>
      <p:sp>
        <p:nvSpPr>
          <p:cNvPr id="39" name="Rectángulo 38">
            <a:extLst>
              <a:ext uri="{FF2B5EF4-FFF2-40B4-BE49-F238E27FC236}">
                <a16:creationId xmlns:a16="http://schemas.microsoft.com/office/drawing/2014/main" id="{FB0F3357-5E40-45EA-A4ED-D4922B5BA0DC}"/>
              </a:ext>
            </a:extLst>
          </p:cNvPr>
          <p:cNvSpPr/>
          <p:nvPr/>
        </p:nvSpPr>
        <p:spPr>
          <a:xfrm>
            <a:off x="3868611" y="4195747"/>
            <a:ext cx="998588" cy="43573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Pila</a:t>
            </a:r>
          </a:p>
        </p:txBody>
      </p:sp>
      <p:sp>
        <p:nvSpPr>
          <p:cNvPr id="45" name="CuadroTexto 44">
            <a:extLst>
              <a:ext uri="{FF2B5EF4-FFF2-40B4-BE49-F238E27FC236}">
                <a16:creationId xmlns:a16="http://schemas.microsoft.com/office/drawing/2014/main" id="{F6A5D64D-8088-45C6-BC2F-6CD074416CD6}"/>
              </a:ext>
            </a:extLst>
          </p:cNvPr>
          <p:cNvSpPr txBox="1"/>
          <p:nvPr/>
        </p:nvSpPr>
        <p:spPr>
          <a:xfrm>
            <a:off x="2513762" y="5369793"/>
            <a:ext cx="556563" cy="369332"/>
          </a:xfrm>
          <a:prstGeom prst="rect">
            <a:avLst/>
          </a:prstGeom>
          <a:noFill/>
        </p:spPr>
        <p:txBody>
          <a:bodyPr wrap="none" rtlCol="0">
            <a:spAutoFit/>
          </a:bodyPr>
          <a:lstStyle/>
          <a:p>
            <a:r>
              <a:rPr lang="es-ES" dirty="0"/>
              <a:t>Hilo</a:t>
            </a:r>
          </a:p>
        </p:txBody>
      </p:sp>
      <p:pic>
        <p:nvPicPr>
          <p:cNvPr id="1026" name="Picture 2" descr="Thread icon - Download on Iconfinder on Iconfinder">
            <a:extLst>
              <a:ext uri="{FF2B5EF4-FFF2-40B4-BE49-F238E27FC236}">
                <a16:creationId xmlns:a16="http://schemas.microsoft.com/office/drawing/2014/main" id="{BF39895E-ADB7-4FE3-AB6B-BFEEDD0325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72515" y="5234420"/>
            <a:ext cx="640079" cy="640079"/>
          </a:xfrm>
          <a:prstGeom prst="rect">
            <a:avLst/>
          </a:prstGeom>
          <a:noFill/>
          <a:extLst>
            <a:ext uri="{909E8E84-426E-40DD-AFC4-6F175D3DCCD1}">
              <a14:hiddenFill xmlns:a14="http://schemas.microsoft.com/office/drawing/2010/main">
                <a:solidFill>
                  <a:srgbClr val="FFFFFF"/>
                </a:solidFill>
              </a14:hiddenFill>
            </a:ext>
          </a:extLst>
        </p:spPr>
      </p:pic>
      <p:sp>
        <p:nvSpPr>
          <p:cNvPr id="46" name="CuadroTexto 45">
            <a:extLst>
              <a:ext uri="{FF2B5EF4-FFF2-40B4-BE49-F238E27FC236}">
                <a16:creationId xmlns:a16="http://schemas.microsoft.com/office/drawing/2014/main" id="{E2BE1A0E-020F-4B20-9953-72231F716878}"/>
              </a:ext>
            </a:extLst>
          </p:cNvPr>
          <p:cNvSpPr txBox="1"/>
          <p:nvPr/>
        </p:nvSpPr>
        <p:spPr>
          <a:xfrm>
            <a:off x="2029170" y="6389773"/>
            <a:ext cx="2899955" cy="369332"/>
          </a:xfrm>
          <a:prstGeom prst="rect">
            <a:avLst/>
          </a:prstGeom>
          <a:noFill/>
        </p:spPr>
        <p:txBody>
          <a:bodyPr wrap="square" rtlCol="0">
            <a:spAutoFit/>
          </a:bodyPr>
          <a:lstStyle/>
          <a:p>
            <a:r>
              <a:rPr lang="es-ES" i="1" dirty="0"/>
              <a:t>Proceso con un solo hilo</a:t>
            </a:r>
          </a:p>
        </p:txBody>
      </p:sp>
      <p:sp>
        <p:nvSpPr>
          <p:cNvPr id="48" name="Rectángulo 47">
            <a:extLst>
              <a:ext uri="{FF2B5EF4-FFF2-40B4-BE49-F238E27FC236}">
                <a16:creationId xmlns:a16="http://schemas.microsoft.com/office/drawing/2014/main" id="{70FB6BC8-6E21-406E-8580-34C366B8542A}"/>
              </a:ext>
            </a:extLst>
          </p:cNvPr>
          <p:cNvSpPr/>
          <p:nvPr/>
        </p:nvSpPr>
        <p:spPr>
          <a:xfrm>
            <a:off x="6449762" y="3654568"/>
            <a:ext cx="3482230" cy="277268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49" name="Rectángulo 48">
            <a:extLst>
              <a:ext uri="{FF2B5EF4-FFF2-40B4-BE49-F238E27FC236}">
                <a16:creationId xmlns:a16="http://schemas.microsoft.com/office/drawing/2014/main" id="{BC468677-9287-4DEC-8EF9-5F840C219092}"/>
              </a:ext>
            </a:extLst>
          </p:cNvPr>
          <p:cNvSpPr/>
          <p:nvPr/>
        </p:nvSpPr>
        <p:spPr>
          <a:xfrm>
            <a:off x="6449762" y="3468189"/>
            <a:ext cx="3482230" cy="56387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a:p>
        </p:txBody>
      </p:sp>
      <p:sp>
        <p:nvSpPr>
          <p:cNvPr id="50" name="Rectángulo 49">
            <a:extLst>
              <a:ext uri="{FF2B5EF4-FFF2-40B4-BE49-F238E27FC236}">
                <a16:creationId xmlns:a16="http://schemas.microsoft.com/office/drawing/2014/main" id="{FD109B52-9236-44D2-8BC0-65284115D78A}"/>
              </a:ext>
            </a:extLst>
          </p:cNvPr>
          <p:cNvSpPr/>
          <p:nvPr/>
        </p:nvSpPr>
        <p:spPr>
          <a:xfrm>
            <a:off x="6449761" y="4031349"/>
            <a:ext cx="1143501" cy="602987"/>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a:p>
        </p:txBody>
      </p:sp>
      <p:sp>
        <p:nvSpPr>
          <p:cNvPr id="51" name="Rectángulo 50">
            <a:extLst>
              <a:ext uri="{FF2B5EF4-FFF2-40B4-BE49-F238E27FC236}">
                <a16:creationId xmlns:a16="http://schemas.microsoft.com/office/drawing/2014/main" id="{FE142DE1-629B-439C-A188-E9EE1B9F90A1}"/>
              </a:ext>
            </a:extLst>
          </p:cNvPr>
          <p:cNvSpPr/>
          <p:nvPr/>
        </p:nvSpPr>
        <p:spPr>
          <a:xfrm>
            <a:off x="6568590" y="3571836"/>
            <a:ext cx="977995" cy="37275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dirty="0">
                <a:solidFill>
                  <a:schemeClr val="tx1"/>
                </a:solidFill>
              </a:rPr>
              <a:t>Código</a:t>
            </a:r>
          </a:p>
        </p:txBody>
      </p:sp>
      <p:sp>
        <p:nvSpPr>
          <p:cNvPr id="52" name="Rectángulo 51">
            <a:extLst>
              <a:ext uri="{FF2B5EF4-FFF2-40B4-BE49-F238E27FC236}">
                <a16:creationId xmlns:a16="http://schemas.microsoft.com/office/drawing/2014/main" id="{C1F8E3E3-D566-4969-AF29-2239A6D08E8E}"/>
              </a:ext>
            </a:extLst>
          </p:cNvPr>
          <p:cNvSpPr/>
          <p:nvPr/>
        </p:nvSpPr>
        <p:spPr>
          <a:xfrm>
            <a:off x="7665414" y="3571836"/>
            <a:ext cx="977995" cy="37275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dirty="0">
                <a:solidFill>
                  <a:schemeClr val="tx1"/>
                </a:solidFill>
              </a:rPr>
              <a:t>Datos</a:t>
            </a:r>
          </a:p>
        </p:txBody>
      </p:sp>
      <p:sp>
        <p:nvSpPr>
          <p:cNvPr id="53" name="Rectángulo 52">
            <a:extLst>
              <a:ext uri="{FF2B5EF4-FFF2-40B4-BE49-F238E27FC236}">
                <a16:creationId xmlns:a16="http://schemas.microsoft.com/office/drawing/2014/main" id="{282326DD-8466-4210-AC05-CA39C9FC9A04}"/>
              </a:ext>
            </a:extLst>
          </p:cNvPr>
          <p:cNvSpPr/>
          <p:nvPr/>
        </p:nvSpPr>
        <p:spPr>
          <a:xfrm>
            <a:off x="8769490" y="3561457"/>
            <a:ext cx="977995" cy="37275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dirty="0">
                <a:solidFill>
                  <a:schemeClr val="tx1"/>
                </a:solidFill>
              </a:rPr>
              <a:t>Ficheros</a:t>
            </a:r>
          </a:p>
        </p:txBody>
      </p:sp>
      <p:sp>
        <p:nvSpPr>
          <p:cNvPr id="54" name="Rectángulo 53">
            <a:extLst>
              <a:ext uri="{FF2B5EF4-FFF2-40B4-BE49-F238E27FC236}">
                <a16:creationId xmlns:a16="http://schemas.microsoft.com/office/drawing/2014/main" id="{116AB8EF-7FC3-4872-870E-E4AD56E09B22}"/>
              </a:ext>
            </a:extLst>
          </p:cNvPr>
          <p:cNvSpPr/>
          <p:nvPr/>
        </p:nvSpPr>
        <p:spPr>
          <a:xfrm>
            <a:off x="6570617" y="4169622"/>
            <a:ext cx="913378" cy="37275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a:solidFill>
                  <a:schemeClr val="tx1"/>
                </a:solidFill>
              </a:rPr>
              <a:t>Registros</a:t>
            </a:r>
          </a:p>
        </p:txBody>
      </p:sp>
      <p:sp>
        <p:nvSpPr>
          <p:cNvPr id="58" name="CuadroTexto 57">
            <a:extLst>
              <a:ext uri="{FF2B5EF4-FFF2-40B4-BE49-F238E27FC236}">
                <a16:creationId xmlns:a16="http://schemas.microsoft.com/office/drawing/2014/main" id="{72DD58A9-AD49-477A-B728-95F29A7DB043}"/>
              </a:ext>
            </a:extLst>
          </p:cNvPr>
          <p:cNvSpPr txBox="1"/>
          <p:nvPr/>
        </p:nvSpPr>
        <p:spPr>
          <a:xfrm>
            <a:off x="6958295" y="6414428"/>
            <a:ext cx="2899955" cy="369332"/>
          </a:xfrm>
          <a:prstGeom prst="rect">
            <a:avLst/>
          </a:prstGeom>
          <a:noFill/>
        </p:spPr>
        <p:txBody>
          <a:bodyPr wrap="square" rtlCol="0">
            <a:spAutoFit/>
          </a:bodyPr>
          <a:lstStyle/>
          <a:p>
            <a:r>
              <a:rPr lang="es-ES" i="1" dirty="0"/>
              <a:t>Proceso multihilo</a:t>
            </a:r>
          </a:p>
        </p:txBody>
      </p:sp>
      <p:sp>
        <p:nvSpPr>
          <p:cNvPr id="60" name="Rectángulo 59">
            <a:extLst>
              <a:ext uri="{FF2B5EF4-FFF2-40B4-BE49-F238E27FC236}">
                <a16:creationId xmlns:a16="http://schemas.microsoft.com/office/drawing/2014/main" id="{48DD5ED3-9EEB-462F-8B65-1DFDC38EECE9}"/>
              </a:ext>
            </a:extLst>
          </p:cNvPr>
          <p:cNvSpPr/>
          <p:nvPr/>
        </p:nvSpPr>
        <p:spPr>
          <a:xfrm>
            <a:off x="7593262" y="4030858"/>
            <a:ext cx="1215653" cy="602987"/>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a:p>
        </p:txBody>
      </p:sp>
      <p:sp>
        <p:nvSpPr>
          <p:cNvPr id="61" name="Rectángulo 60">
            <a:extLst>
              <a:ext uri="{FF2B5EF4-FFF2-40B4-BE49-F238E27FC236}">
                <a16:creationId xmlns:a16="http://schemas.microsoft.com/office/drawing/2014/main" id="{0EA61D02-1C99-451F-8A7C-62CB358E5345}"/>
              </a:ext>
            </a:extLst>
          </p:cNvPr>
          <p:cNvSpPr/>
          <p:nvPr/>
        </p:nvSpPr>
        <p:spPr>
          <a:xfrm>
            <a:off x="7779433" y="4162781"/>
            <a:ext cx="913378" cy="37275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a:solidFill>
                  <a:schemeClr val="tx1"/>
                </a:solidFill>
              </a:rPr>
              <a:t>Registros</a:t>
            </a:r>
          </a:p>
        </p:txBody>
      </p:sp>
      <p:sp>
        <p:nvSpPr>
          <p:cNvPr id="62" name="Rectángulo 61">
            <a:extLst>
              <a:ext uri="{FF2B5EF4-FFF2-40B4-BE49-F238E27FC236}">
                <a16:creationId xmlns:a16="http://schemas.microsoft.com/office/drawing/2014/main" id="{C16B3F96-AD8A-44CB-846F-48E685115272}"/>
              </a:ext>
            </a:extLst>
          </p:cNvPr>
          <p:cNvSpPr/>
          <p:nvPr/>
        </p:nvSpPr>
        <p:spPr>
          <a:xfrm>
            <a:off x="8797529" y="4030367"/>
            <a:ext cx="1128398" cy="601117"/>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a:p>
        </p:txBody>
      </p:sp>
      <p:sp>
        <p:nvSpPr>
          <p:cNvPr id="63" name="Rectángulo 62">
            <a:extLst>
              <a:ext uri="{FF2B5EF4-FFF2-40B4-BE49-F238E27FC236}">
                <a16:creationId xmlns:a16="http://schemas.microsoft.com/office/drawing/2014/main" id="{1D6F8BD5-734F-4AEC-BB04-5EB092DF2EBE}"/>
              </a:ext>
            </a:extLst>
          </p:cNvPr>
          <p:cNvSpPr/>
          <p:nvPr/>
        </p:nvSpPr>
        <p:spPr>
          <a:xfrm>
            <a:off x="8944873" y="4148864"/>
            <a:ext cx="913378" cy="37275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a:solidFill>
                  <a:schemeClr val="tx1"/>
                </a:solidFill>
              </a:rPr>
              <a:t>Registros</a:t>
            </a:r>
          </a:p>
        </p:txBody>
      </p:sp>
      <p:sp>
        <p:nvSpPr>
          <p:cNvPr id="64" name="Rectángulo 63">
            <a:extLst>
              <a:ext uri="{FF2B5EF4-FFF2-40B4-BE49-F238E27FC236}">
                <a16:creationId xmlns:a16="http://schemas.microsoft.com/office/drawing/2014/main" id="{B8CC6DC3-11AF-4166-AB56-14060B46EB03}"/>
              </a:ext>
            </a:extLst>
          </p:cNvPr>
          <p:cNvSpPr/>
          <p:nvPr/>
        </p:nvSpPr>
        <p:spPr>
          <a:xfrm>
            <a:off x="6449761" y="4628171"/>
            <a:ext cx="1143501" cy="602987"/>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a:p>
        </p:txBody>
      </p:sp>
      <p:sp>
        <p:nvSpPr>
          <p:cNvPr id="65" name="Rectángulo 64">
            <a:extLst>
              <a:ext uri="{FF2B5EF4-FFF2-40B4-BE49-F238E27FC236}">
                <a16:creationId xmlns:a16="http://schemas.microsoft.com/office/drawing/2014/main" id="{2E6C24A5-4E83-4DB0-AA83-6C5FD6D6D0B5}"/>
              </a:ext>
            </a:extLst>
          </p:cNvPr>
          <p:cNvSpPr/>
          <p:nvPr/>
        </p:nvSpPr>
        <p:spPr>
          <a:xfrm>
            <a:off x="6570617" y="4766444"/>
            <a:ext cx="913378" cy="37275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a:solidFill>
                  <a:schemeClr val="tx1"/>
                </a:solidFill>
              </a:rPr>
              <a:t>Pila</a:t>
            </a:r>
          </a:p>
        </p:txBody>
      </p:sp>
      <p:sp>
        <p:nvSpPr>
          <p:cNvPr id="66" name="Rectángulo 65">
            <a:extLst>
              <a:ext uri="{FF2B5EF4-FFF2-40B4-BE49-F238E27FC236}">
                <a16:creationId xmlns:a16="http://schemas.microsoft.com/office/drawing/2014/main" id="{BEF4C6DB-3F65-4060-AD13-CDBB33909D93}"/>
              </a:ext>
            </a:extLst>
          </p:cNvPr>
          <p:cNvSpPr/>
          <p:nvPr/>
        </p:nvSpPr>
        <p:spPr>
          <a:xfrm>
            <a:off x="7593262" y="4627680"/>
            <a:ext cx="1215653" cy="602987"/>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a:p>
        </p:txBody>
      </p:sp>
      <p:sp>
        <p:nvSpPr>
          <p:cNvPr id="67" name="Rectángulo 66">
            <a:extLst>
              <a:ext uri="{FF2B5EF4-FFF2-40B4-BE49-F238E27FC236}">
                <a16:creationId xmlns:a16="http://schemas.microsoft.com/office/drawing/2014/main" id="{E496E357-A8DD-4618-8A88-237DEA5345CD}"/>
              </a:ext>
            </a:extLst>
          </p:cNvPr>
          <p:cNvSpPr/>
          <p:nvPr/>
        </p:nvSpPr>
        <p:spPr>
          <a:xfrm>
            <a:off x="7779433" y="4759603"/>
            <a:ext cx="913378" cy="37275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a:solidFill>
                  <a:schemeClr val="tx1"/>
                </a:solidFill>
              </a:rPr>
              <a:t>Pila</a:t>
            </a:r>
          </a:p>
        </p:txBody>
      </p:sp>
      <p:sp>
        <p:nvSpPr>
          <p:cNvPr id="68" name="Rectángulo 67">
            <a:extLst>
              <a:ext uri="{FF2B5EF4-FFF2-40B4-BE49-F238E27FC236}">
                <a16:creationId xmlns:a16="http://schemas.microsoft.com/office/drawing/2014/main" id="{ED54869A-100F-4B10-9675-DD47145B2C57}"/>
              </a:ext>
            </a:extLst>
          </p:cNvPr>
          <p:cNvSpPr/>
          <p:nvPr/>
        </p:nvSpPr>
        <p:spPr>
          <a:xfrm>
            <a:off x="8797529" y="4627189"/>
            <a:ext cx="1128398" cy="601117"/>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a:p>
        </p:txBody>
      </p:sp>
      <p:sp>
        <p:nvSpPr>
          <p:cNvPr id="73" name="Rectángulo 72">
            <a:extLst>
              <a:ext uri="{FF2B5EF4-FFF2-40B4-BE49-F238E27FC236}">
                <a16:creationId xmlns:a16="http://schemas.microsoft.com/office/drawing/2014/main" id="{8A44ACAB-87B4-447B-9328-73BB8D833DB8}"/>
              </a:ext>
            </a:extLst>
          </p:cNvPr>
          <p:cNvSpPr/>
          <p:nvPr/>
        </p:nvSpPr>
        <p:spPr>
          <a:xfrm>
            <a:off x="6456112" y="5234656"/>
            <a:ext cx="1137150" cy="119259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69" name="Rectángulo 68">
            <a:extLst>
              <a:ext uri="{FF2B5EF4-FFF2-40B4-BE49-F238E27FC236}">
                <a16:creationId xmlns:a16="http://schemas.microsoft.com/office/drawing/2014/main" id="{BCEDB8E7-219B-49E8-BDDD-8D92AECD6D9F}"/>
              </a:ext>
            </a:extLst>
          </p:cNvPr>
          <p:cNvSpPr/>
          <p:nvPr/>
        </p:nvSpPr>
        <p:spPr>
          <a:xfrm>
            <a:off x="8944873" y="4745686"/>
            <a:ext cx="913378" cy="37275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a:solidFill>
                  <a:schemeClr val="tx1"/>
                </a:solidFill>
              </a:rPr>
              <a:t>Pila</a:t>
            </a:r>
          </a:p>
        </p:txBody>
      </p:sp>
      <p:cxnSp>
        <p:nvCxnSpPr>
          <p:cNvPr id="70" name="Conector recto de flecha 69">
            <a:extLst>
              <a:ext uri="{FF2B5EF4-FFF2-40B4-BE49-F238E27FC236}">
                <a16:creationId xmlns:a16="http://schemas.microsoft.com/office/drawing/2014/main" id="{2CBA78EC-31D5-4728-A1D4-3AF9F8E35824}"/>
              </a:ext>
            </a:extLst>
          </p:cNvPr>
          <p:cNvCxnSpPr>
            <a:cxnSpLocks/>
            <a:stCxn id="45" idx="3"/>
            <a:endCxn id="1026" idx="1"/>
          </p:cNvCxnSpPr>
          <p:nvPr/>
        </p:nvCxnSpPr>
        <p:spPr>
          <a:xfrm>
            <a:off x="3070325" y="5554459"/>
            <a:ext cx="302190" cy="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pic>
        <p:nvPicPr>
          <p:cNvPr id="57" name="Picture 2" descr="Thread icon - Download on Iconfinder on Iconfinder">
            <a:extLst>
              <a:ext uri="{FF2B5EF4-FFF2-40B4-BE49-F238E27FC236}">
                <a16:creationId xmlns:a16="http://schemas.microsoft.com/office/drawing/2014/main" id="{4CC0E4A3-DEDC-4CF3-B98B-1114600521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3661" y="5507221"/>
            <a:ext cx="640079" cy="640079"/>
          </a:xfrm>
          <a:prstGeom prst="rect">
            <a:avLst/>
          </a:prstGeom>
          <a:noFill/>
          <a:extLst>
            <a:ext uri="{909E8E84-426E-40DD-AFC4-6F175D3DCCD1}">
              <a14:hiddenFill xmlns:a14="http://schemas.microsoft.com/office/drawing/2010/main">
                <a:solidFill>
                  <a:srgbClr val="FFFFFF"/>
                </a:solidFill>
              </a14:hiddenFill>
            </a:ext>
          </a:extLst>
        </p:spPr>
      </p:pic>
      <p:sp>
        <p:nvSpPr>
          <p:cNvPr id="74" name="Rectángulo 73">
            <a:extLst>
              <a:ext uri="{FF2B5EF4-FFF2-40B4-BE49-F238E27FC236}">
                <a16:creationId xmlns:a16="http://schemas.microsoft.com/office/drawing/2014/main" id="{249A1A75-C649-444A-8DF9-2A7F09F1D6FA}"/>
              </a:ext>
            </a:extLst>
          </p:cNvPr>
          <p:cNvSpPr/>
          <p:nvPr/>
        </p:nvSpPr>
        <p:spPr>
          <a:xfrm>
            <a:off x="7585836" y="5233155"/>
            <a:ext cx="1207800" cy="119259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75" name="Rectángulo 74">
            <a:extLst>
              <a:ext uri="{FF2B5EF4-FFF2-40B4-BE49-F238E27FC236}">
                <a16:creationId xmlns:a16="http://schemas.microsoft.com/office/drawing/2014/main" id="{811A7EB8-3186-424E-B6BB-DA7E3200B18C}"/>
              </a:ext>
            </a:extLst>
          </p:cNvPr>
          <p:cNvSpPr/>
          <p:nvPr/>
        </p:nvSpPr>
        <p:spPr>
          <a:xfrm>
            <a:off x="8792670" y="5228306"/>
            <a:ext cx="1137150" cy="11989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76" name="Picture 2" descr="Thread icon - Download on Iconfinder on Iconfinder">
            <a:extLst>
              <a:ext uri="{FF2B5EF4-FFF2-40B4-BE49-F238E27FC236}">
                <a16:creationId xmlns:a16="http://schemas.microsoft.com/office/drawing/2014/main" id="{479DFF23-D01B-436E-8D03-FB4C4F1BAA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69214" y="5476458"/>
            <a:ext cx="640079" cy="640079"/>
          </a:xfrm>
          <a:prstGeom prst="rect">
            <a:avLst/>
          </a:prstGeom>
          <a:noFill/>
          <a:extLst>
            <a:ext uri="{909E8E84-426E-40DD-AFC4-6F175D3DCCD1}">
              <a14:hiddenFill xmlns:a14="http://schemas.microsoft.com/office/drawing/2010/main">
                <a:solidFill>
                  <a:srgbClr val="FFFFFF"/>
                </a:solidFill>
              </a14:hiddenFill>
            </a:ext>
          </a:extLst>
        </p:spPr>
      </p:pic>
      <p:pic>
        <p:nvPicPr>
          <p:cNvPr id="77" name="Picture 2" descr="Thread icon - Download on Iconfinder on Iconfinder">
            <a:extLst>
              <a:ext uri="{FF2B5EF4-FFF2-40B4-BE49-F238E27FC236}">
                <a16:creationId xmlns:a16="http://schemas.microsoft.com/office/drawing/2014/main" id="{D186A7EA-5480-4E5A-A0E7-2D5737BADF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38159" y="5507221"/>
            <a:ext cx="640079" cy="640079"/>
          </a:xfrm>
          <a:prstGeom prst="rect">
            <a:avLst/>
          </a:prstGeom>
          <a:noFill/>
          <a:extLst>
            <a:ext uri="{909E8E84-426E-40DD-AFC4-6F175D3DCCD1}">
              <a14:hiddenFill xmlns:a14="http://schemas.microsoft.com/office/drawing/2010/main">
                <a:solidFill>
                  <a:srgbClr val="FFFFFF"/>
                </a:solidFill>
              </a14:hiddenFill>
            </a:ext>
          </a:extLst>
        </p:spPr>
      </p:pic>
      <p:sp>
        <p:nvSpPr>
          <p:cNvPr id="78" name="CuadroTexto 77">
            <a:extLst>
              <a:ext uri="{FF2B5EF4-FFF2-40B4-BE49-F238E27FC236}">
                <a16:creationId xmlns:a16="http://schemas.microsoft.com/office/drawing/2014/main" id="{9AFDE5DC-930D-41BD-B4AF-66B75C7B7F14}"/>
              </a:ext>
            </a:extLst>
          </p:cNvPr>
          <p:cNvSpPr txBox="1"/>
          <p:nvPr/>
        </p:nvSpPr>
        <p:spPr>
          <a:xfrm>
            <a:off x="10295638" y="5425621"/>
            <a:ext cx="556563" cy="369332"/>
          </a:xfrm>
          <a:prstGeom prst="rect">
            <a:avLst/>
          </a:prstGeom>
          <a:noFill/>
        </p:spPr>
        <p:txBody>
          <a:bodyPr wrap="square" rtlCol="0">
            <a:spAutoFit/>
          </a:bodyPr>
          <a:lstStyle/>
          <a:p>
            <a:r>
              <a:rPr lang="es-ES" dirty="0"/>
              <a:t>Hilo</a:t>
            </a:r>
          </a:p>
        </p:txBody>
      </p:sp>
      <p:cxnSp>
        <p:nvCxnSpPr>
          <p:cNvPr id="79" name="Conector recto de flecha 78">
            <a:extLst>
              <a:ext uri="{FF2B5EF4-FFF2-40B4-BE49-F238E27FC236}">
                <a16:creationId xmlns:a16="http://schemas.microsoft.com/office/drawing/2014/main" id="{55714D98-B463-468E-A301-130662904D01}"/>
              </a:ext>
            </a:extLst>
          </p:cNvPr>
          <p:cNvCxnSpPr>
            <a:cxnSpLocks/>
            <a:stCxn id="78" idx="1"/>
            <a:endCxn id="77" idx="3"/>
          </p:cNvCxnSpPr>
          <p:nvPr/>
        </p:nvCxnSpPr>
        <p:spPr>
          <a:xfrm flipH="1">
            <a:off x="9678238" y="5610287"/>
            <a:ext cx="617400" cy="21697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49130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02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7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4"/>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60"/>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1"/>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2"/>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63"/>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64"/>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5"/>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66"/>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67"/>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68"/>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73"/>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69"/>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57"/>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74"/>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75"/>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76"/>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77"/>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78"/>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3" grpId="0" animBg="1"/>
      <p:bldP spid="34" grpId="0" animBg="1"/>
      <p:bldP spid="35" grpId="0" animBg="1"/>
      <p:bldP spid="36" grpId="0" animBg="1"/>
      <p:bldP spid="37" grpId="0" animBg="1"/>
      <p:bldP spid="38" grpId="0" animBg="1"/>
      <p:bldP spid="39" grpId="0" animBg="1"/>
      <p:bldP spid="45" grpId="0"/>
      <p:bldP spid="46" grpId="0"/>
      <p:bldP spid="48" grpId="0" animBg="1"/>
      <p:bldP spid="49" grpId="0" animBg="1"/>
      <p:bldP spid="50" grpId="0" animBg="1"/>
      <p:bldP spid="51" grpId="0" animBg="1"/>
      <p:bldP spid="52" grpId="0" animBg="1"/>
      <p:bldP spid="53" grpId="0" animBg="1"/>
      <p:bldP spid="54" grpId="0" animBg="1"/>
      <p:bldP spid="58" grpId="0"/>
      <p:bldP spid="60" grpId="0" animBg="1"/>
      <p:bldP spid="61" grpId="0" animBg="1"/>
      <p:bldP spid="62" grpId="0" animBg="1"/>
      <p:bldP spid="63" grpId="0" animBg="1"/>
      <p:bldP spid="64" grpId="0" animBg="1"/>
      <p:bldP spid="65" grpId="0" animBg="1"/>
      <p:bldP spid="66" grpId="0" animBg="1"/>
      <p:bldP spid="67" grpId="0" animBg="1"/>
      <p:bldP spid="68" grpId="0" animBg="1"/>
      <p:bldP spid="73" grpId="0" animBg="1"/>
      <p:bldP spid="69" grpId="0" animBg="1"/>
      <p:bldP spid="74" grpId="0" animBg="1"/>
      <p:bldP spid="75" grpId="0" animBg="1"/>
      <p:bldP spid="78"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88EEA8BF-AC34-4D10-BDA3-3A3007E142A3}"/>
              </a:ext>
            </a:extLst>
          </p:cNvPr>
          <p:cNvSpPr>
            <a:spLocks noGrp="1"/>
          </p:cNvSpPr>
          <p:nvPr>
            <p:ph type="title"/>
          </p:nvPr>
        </p:nvSpPr>
        <p:spPr>
          <a:xfrm>
            <a:off x="643467" y="321734"/>
            <a:ext cx="10905066" cy="594173"/>
          </a:xfrm>
        </p:spPr>
        <p:txBody>
          <a:bodyPr>
            <a:normAutofit/>
          </a:bodyPr>
          <a:lstStyle/>
          <a:p>
            <a:r>
              <a:rPr lang="es-ES" sz="3600" b="1" u="sng" dirty="0"/>
              <a:t>Formas de crear y arrancar hilos</a:t>
            </a:r>
          </a:p>
        </p:txBody>
      </p:sp>
      <p:sp>
        <p:nvSpPr>
          <p:cNvPr id="3" name="Marcador de contenido 2">
            <a:extLst>
              <a:ext uri="{FF2B5EF4-FFF2-40B4-BE49-F238E27FC236}">
                <a16:creationId xmlns:a16="http://schemas.microsoft.com/office/drawing/2014/main" id="{B3FA1E7A-1131-493D-8FB5-8EC609B3755A}"/>
              </a:ext>
            </a:extLst>
          </p:cNvPr>
          <p:cNvSpPr>
            <a:spLocks noGrp="1"/>
          </p:cNvSpPr>
          <p:nvPr>
            <p:ph idx="1"/>
          </p:nvPr>
        </p:nvSpPr>
        <p:spPr>
          <a:xfrm>
            <a:off x="643467" y="1062322"/>
            <a:ext cx="10905066" cy="5252531"/>
          </a:xfrm>
        </p:spPr>
        <p:txBody>
          <a:bodyPr>
            <a:normAutofit/>
          </a:bodyPr>
          <a:lstStyle/>
          <a:p>
            <a:r>
              <a:rPr lang="es-ES" sz="3200" dirty="0"/>
              <a:t>Implementando interfaz </a:t>
            </a:r>
            <a:r>
              <a:rPr lang="es-ES" sz="3200" dirty="0" err="1"/>
              <a:t>Runnable</a:t>
            </a:r>
            <a:endParaRPr lang="es-ES" sz="3200" dirty="0"/>
          </a:p>
          <a:p>
            <a:pPr lvl="1"/>
            <a:r>
              <a:rPr lang="es-ES" dirty="0"/>
              <a:t>Nos permite que cualquier clase pueda tener comportamiento de hilos</a:t>
            </a:r>
          </a:p>
          <a:p>
            <a:pPr lvl="1"/>
            <a:r>
              <a:rPr lang="es-ES" dirty="0"/>
              <a:t>Al ser una interfaz, podemos añadirlo a cualquier clase (en contra de la herencia)</a:t>
            </a:r>
          </a:p>
          <a:p>
            <a:pPr lvl="2"/>
            <a:r>
              <a:rPr lang="es-ES" dirty="0"/>
              <a:t>Es decir, “puede tener comportamiento de hilo”</a:t>
            </a:r>
          </a:p>
          <a:p>
            <a:pPr lvl="1"/>
            <a:r>
              <a:rPr lang="es-ES" dirty="0"/>
              <a:t>Nos exigirá implementar el método run, donde se implementará la funcionalidad a ejecutar en hilos.</a:t>
            </a:r>
            <a:endParaRPr lang="es-ES" sz="2800" dirty="0"/>
          </a:p>
          <a:p>
            <a:r>
              <a:rPr lang="es-ES" sz="2400" dirty="0"/>
              <a:t>Ejemplo:</a:t>
            </a:r>
          </a:p>
          <a:p>
            <a:pPr lvl="1"/>
            <a:endParaRPr lang="es-ES" sz="1600" dirty="0"/>
          </a:p>
        </p:txBody>
      </p:sp>
      <p:sp>
        <p:nvSpPr>
          <p:cNvPr id="10"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CuadroTexto 3">
            <a:extLst>
              <a:ext uri="{FF2B5EF4-FFF2-40B4-BE49-F238E27FC236}">
                <a16:creationId xmlns:a16="http://schemas.microsoft.com/office/drawing/2014/main" id="{FFCF5530-E191-4595-BFBB-22DA75BBD5D3}"/>
              </a:ext>
            </a:extLst>
          </p:cNvPr>
          <p:cNvSpPr txBox="1"/>
          <p:nvPr/>
        </p:nvSpPr>
        <p:spPr>
          <a:xfrm>
            <a:off x="1003760" y="3823094"/>
            <a:ext cx="5157896" cy="3323987"/>
          </a:xfrm>
          <a:prstGeom prst="rect">
            <a:avLst/>
          </a:prstGeom>
          <a:noFill/>
        </p:spPr>
        <p:txBody>
          <a:bodyPr wrap="square" rtlCol="0">
            <a:spAutoFit/>
          </a:bodyPr>
          <a:lstStyle/>
          <a:p>
            <a:pPr algn="l"/>
            <a:r>
              <a:rPr lang="es-ES" sz="1200" b="1" dirty="0" err="1">
                <a:solidFill>
                  <a:srgbClr val="7F0055"/>
                </a:solidFill>
                <a:latin typeface="Consolas" panose="020B0609020204030204" pitchFamily="49" charset="0"/>
              </a:rPr>
              <a:t>package</a:t>
            </a:r>
            <a:r>
              <a:rPr lang="es-ES" sz="1200" b="1" dirty="0">
                <a:solidFill>
                  <a:srgbClr val="000000"/>
                </a:solidFill>
                <a:latin typeface="Consolas" panose="020B0609020204030204" pitchFamily="49" charset="0"/>
              </a:rPr>
              <a:t> ejemplos;</a:t>
            </a:r>
          </a:p>
          <a:p>
            <a:pPr algn="l"/>
            <a:endParaRPr lang="es-ES" sz="1200" dirty="0">
              <a:latin typeface="Consolas" panose="020B0609020204030204" pitchFamily="49" charset="0"/>
            </a:endParaRPr>
          </a:p>
          <a:p>
            <a:pPr algn="l"/>
            <a:r>
              <a:rPr lang="en-US" sz="1200" b="1" dirty="0">
                <a:solidFill>
                  <a:srgbClr val="7F0055"/>
                </a:solidFill>
                <a:latin typeface="Consolas" panose="020B0609020204030204" pitchFamily="49" charset="0"/>
              </a:rPr>
              <a:t>public</a:t>
            </a:r>
            <a:r>
              <a:rPr lang="en-US" sz="1200" b="1" dirty="0">
                <a:solidFill>
                  <a:srgbClr val="000000"/>
                </a:solidFill>
                <a:latin typeface="Consolas" panose="020B0609020204030204" pitchFamily="49" charset="0"/>
              </a:rPr>
              <a:t> </a:t>
            </a:r>
            <a:r>
              <a:rPr lang="en-US" sz="1200" b="1" dirty="0">
                <a:solidFill>
                  <a:srgbClr val="7F0055"/>
                </a:solidFill>
                <a:latin typeface="Consolas" panose="020B0609020204030204" pitchFamily="49" charset="0"/>
              </a:rPr>
              <a:t>class</a:t>
            </a:r>
            <a:r>
              <a:rPr lang="en-US" sz="1200" b="1" dirty="0">
                <a:solidFill>
                  <a:srgbClr val="000000"/>
                </a:solidFill>
                <a:latin typeface="Consolas" panose="020B0609020204030204" pitchFamily="49" charset="0"/>
              </a:rPr>
              <a:t> Hilo </a:t>
            </a:r>
            <a:r>
              <a:rPr lang="en-US" sz="1200" b="1" dirty="0">
                <a:solidFill>
                  <a:srgbClr val="7F0055"/>
                </a:solidFill>
                <a:latin typeface="Consolas" panose="020B0609020204030204" pitchFamily="49" charset="0"/>
              </a:rPr>
              <a:t>implements</a:t>
            </a:r>
            <a:r>
              <a:rPr lang="en-US" sz="1200" b="1" dirty="0">
                <a:solidFill>
                  <a:srgbClr val="000000"/>
                </a:solidFill>
                <a:latin typeface="Consolas" panose="020B0609020204030204" pitchFamily="49" charset="0"/>
              </a:rPr>
              <a:t> Runnable{</a:t>
            </a:r>
          </a:p>
          <a:p>
            <a:pPr algn="l"/>
            <a:endParaRPr lang="es-ES" sz="1200" dirty="0">
              <a:latin typeface="Consolas" panose="020B0609020204030204" pitchFamily="49" charset="0"/>
            </a:endParaRPr>
          </a:p>
          <a:p>
            <a:pPr algn="l"/>
            <a:r>
              <a:rPr lang="es-ES" sz="1200" b="1" dirty="0" err="1">
                <a:solidFill>
                  <a:srgbClr val="7F0055"/>
                </a:solidFill>
                <a:latin typeface="Consolas" panose="020B0609020204030204" pitchFamily="49" charset="0"/>
              </a:rPr>
              <a:t>private</a:t>
            </a:r>
            <a:r>
              <a:rPr lang="es-ES" sz="1200" b="1" dirty="0">
                <a:solidFill>
                  <a:srgbClr val="000000"/>
                </a:solidFill>
                <a:latin typeface="Consolas" panose="020B0609020204030204" pitchFamily="49" charset="0"/>
              </a:rPr>
              <a:t> </a:t>
            </a:r>
            <a:r>
              <a:rPr lang="es-ES" sz="1200" b="1" dirty="0">
                <a:solidFill>
                  <a:srgbClr val="7F0055"/>
                </a:solidFill>
                <a:latin typeface="Consolas" panose="020B0609020204030204" pitchFamily="49" charset="0"/>
              </a:rPr>
              <a:t>final</a:t>
            </a:r>
            <a:r>
              <a:rPr lang="es-ES" sz="1200" b="1" dirty="0">
                <a:solidFill>
                  <a:srgbClr val="000000"/>
                </a:solidFill>
                <a:latin typeface="Consolas" panose="020B0609020204030204" pitchFamily="49" charset="0"/>
              </a:rPr>
              <a:t> </a:t>
            </a:r>
            <a:r>
              <a:rPr lang="es-ES" sz="1200" b="1" dirty="0" err="1">
                <a:solidFill>
                  <a:srgbClr val="000000"/>
                </a:solidFill>
                <a:latin typeface="Consolas" panose="020B0609020204030204" pitchFamily="49" charset="0"/>
              </a:rPr>
              <a:t>String</a:t>
            </a:r>
            <a:r>
              <a:rPr lang="es-ES" sz="1200" b="1" dirty="0">
                <a:solidFill>
                  <a:srgbClr val="000000"/>
                </a:solidFill>
                <a:latin typeface="Consolas" panose="020B0609020204030204" pitchFamily="49" charset="0"/>
              </a:rPr>
              <a:t> </a:t>
            </a:r>
            <a:r>
              <a:rPr lang="es-ES" sz="1200" b="1" dirty="0">
                <a:solidFill>
                  <a:srgbClr val="0000C0"/>
                </a:solidFill>
                <a:latin typeface="Consolas" panose="020B0609020204030204" pitchFamily="49" charset="0"/>
              </a:rPr>
              <a:t>nombre</a:t>
            </a:r>
            <a:r>
              <a:rPr lang="es-ES" sz="1200" b="1" dirty="0">
                <a:solidFill>
                  <a:srgbClr val="000000"/>
                </a:solidFill>
                <a:latin typeface="Consolas" panose="020B0609020204030204" pitchFamily="49" charset="0"/>
              </a:rPr>
              <a:t>;</a:t>
            </a:r>
          </a:p>
          <a:p>
            <a:pPr algn="l"/>
            <a:r>
              <a:rPr lang="es-ES" sz="1200" b="1" dirty="0" err="1">
                <a:solidFill>
                  <a:srgbClr val="7F0055"/>
                </a:solidFill>
                <a:latin typeface="Consolas" panose="020B0609020204030204" pitchFamily="49" charset="0"/>
              </a:rPr>
              <a:t>public</a:t>
            </a:r>
            <a:r>
              <a:rPr lang="es-ES" sz="1200" b="1" dirty="0">
                <a:solidFill>
                  <a:srgbClr val="000000"/>
                </a:solidFill>
                <a:latin typeface="Consolas" panose="020B0609020204030204" pitchFamily="49" charset="0"/>
              </a:rPr>
              <a:t> Hilo(</a:t>
            </a:r>
            <a:r>
              <a:rPr lang="es-ES" sz="1200" b="1" dirty="0" err="1">
                <a:solidFill>
                  <a:srgbClr val="000000"/>
                </a:solidFill>
                <a:latin typeface="Consolas" panose="020B0609020204030204" pitchFamily="49" charset="0"/>
              </a:rPr>
              <a:t>String</a:t>
            </a:r>
            <a:r>
              <a:rPr lang="es-ES" sz="1200" b="1" dirty="0">
                <a:solidFill>
                  <a:srgbClr val="000000"/>
                </a:solidFill>
                <a:latin typeface="Consolas" panose="020B0609020204030204" pitchFamily="49" charset="0"/>
              </a:rPr>
              <a:t> </a:t>
            </a:r>
            <a:r>
              <a:rPr lang="es-ES" sz="1200" b="1" dirty="0">
                <a:solidFill>
                  <a:srgbClr val="6A3E3E"/>
                </a:solidFill>
                <a:latin typeface="Consolas" panose="020B0609020204030204" pitchFamily="49" charset="0"/>
              </a:rPr>
              <a:t>nombre</a:t>
            </a:r>
            <a:r>
              <a:rPr lang="es-ES" sz="1200" b="1" dirty="0">
                <a:solidFill>
                  <a:srgbClr val="000000"/>
                </a:solidFill>
                <a:latin typeface="Consolas" panose="020B0609020204030204" pitchFamily="49" charset="0"/>
              </a:rPr>
              <a:t>) {</a:t>
            </a:r>
          </a:p>
          <a:p>
            <a:pPr algn="l"/>
            <a:r>
              <a:rPr lang="es-ES" sz="1200" b="1" dirty="0" err="1">
                <a:solidFill>
                  <a:srgbClr val="7F0055"/>
                </a:solidFill>
                <a:latin typeface="Consolas" panose="020B0609020204030204" pitchFamily="49" charset="0"/>
              </a:rPr>
              <a:t>this</a:t>
            </a:r>
            <a:r>
              <a:rPr lang="es-ES" sz="1200" b="1" dirty="0" err="1">
                <a:solidFill>
                  <a:srgbClr val="000000"/>
                </a:solidFill>
                <a:latin typeface="Consolas" panose="020B0609020204030204" pitchFamily="49" charset="0"/>
              </a:rPr>
              <a:t>.</a:t>
            </a:r>
            <a:r>
              <a:rPr lang="es-ES" sz="1200" b="1" dirty="0" err="1">
                <a:solidFill>
                  <a:srgbClr val="0000C0"/>
                </a:solidFill>
                <a:latin typeface="Consolas" panose="020B0609020204030204" pitchFamily="49" charset="0"/>
              </a:rPr>
              <a:t>nombre</a:t>
            </a:r>
            <a:r>
              <a:rPr lang="es-ES" sz="1200" b="1" dirty="0">
                <a:solidFill>
                  <a:srgbClr val="000000"/>
                </a:solidFill>
                <a:latin typeface="Consolas" panose="020B0609020204030204" pitchFamily="49" charset="0"/>
              </a:rPr>
              <a:t> = </a:t>
            </a:r>
            <a:r>
              <a:rPr lang="es-ES" sz="1200" b="1" dirty="0">
                <a:solidFill>
                  <a:srgbClr val="6A3E3E"/>
                </a:solidFill>
                <a:latin typeface="Consolas" panose="020B0609020204030204" pitchFamily="49" charset="0"/>
              </a:rPr>
              <a:t>nombre</a:t>
            </a:r>
            <a:r>
              <a:rPr lang="es-ES" sz="1200" b="1" dirty="0">
                <a:solidFill>
                  <a:srgbClr val="000000"/>
                </a:solidFill>
                <a:latin typeface="Consolas" panose="020B0609020204030204" pitchFamily="49" charset="0"/>
              </a:rPr>
              <a:t>;</a:t>
            </a:r>
          </a:p>
          <a:p>
            <a:pPr algn="l"/>
            <a:r>
              <a:rPr lang="es-ES" sz="1200" dirty="0">
                <a:solidFill>
                  <a:srgbClr val="000000"/>
                </a:solidFill>
                <a:latin typeface="Consolas" panose="020B0609020204030204" pitchFamily="49" charset="0"/>
              </a:rPr>
              <a:t>}</a:t>
            </a:r>
          </a:p>
          <a:p>
            <a:pPr algn="l"/>
            <a:r>
              <a:rPr lang="es-ES" sz="1200" dirty="0">
                <a:solidFill>
                  <a:srgbClr val="646464"/>
                </a:solidFill>
                <a:latin typeface="Consolas" panose="020B0609020204030204" pitchFamily="49" charset="0"/>
              </a:rPr>
              <a:t>@Override</a:t>
            </a:r>
          </a:p>
          <a:p>
            <a:pPr algn="l"/>
            <a:r>
              <a:rPr lang="es-ES" sz="1200" b="1" dirty="0" err="1">
                <a:solidFill>
                  <a:srgbClr val="7F0055"/>
                </a:solidFill>
                <a:latin typeface="Consolas" panose="020B0609020204030204" pitchFamily="49" charset="0"/>
              </a:rPr>
              <a:t>public</a:t>
            </a:r>
            <a:r>
              <a:rPr lang="es-ES" sz="1200" b="1" dirty="0">
                <a:solidFill>
                  <a:srgbClr val="000000"/>
                </a:solidFill>
                <a:latin typeface="Consolas" panose="020B0609020204030204" pitchFamily="49" charset="0"/>
              </a:rPr>
              <a:t> </a:t>
            </a:r>
            <a:r>
              <a:rPr lang="es-ES" sz="1200" b="1" dirty="0" err="1">
                <a:solidFill>
                  <a:srgbClr val="7F0055"/>
                </a:solidFill>
                <a:latin typeface="Consolas" panose="020B0609020204030204" pitchFamily="49" charset="0"/>
              </a:rPr>
              <a:t>void</a:t>
            </a:r>
            <a:r>
              <a:rPr lang="es-ES" sz="1200" b="1" dirty="0">
                <a:solidFill>
                  <a:srgbClr val="000000"/>
                </a:solidFill>
                <a:latin typeface="Consolas" panose="020B0609020204030204" pitchFamily="49" charset="0"/>
              </a:rPr>
              <a:t> run() {</a:t>
            </a:r>
          </a:p>
          <a:p>
            <a:pPr algn="l"/>
            <a:r>
              <a:rPr lang="es-ES" sz="1200" dirty="0">
                <a:solidFill>
                  <a:srgbClr val="000000"/>
                </a:solidFill>
                <a:latin typeface="Consolas" panose="020B0609020204030204" pitchFamily="49" charset="0"/>
              </a:rPr>
              <a:t>      </a:t>
            </a:r>
            <a:r>
              <a:rPr lang="es-ES" sz="1200" dirty="0" err="1">
                <a:solidFill>
                  <a:srgbClr val="000000"/>
                </a:solidFill>
                <a:latin typeface="Consolas" panose="020B0609020204030204" pitchFamily="49" charset="0"/>
              </a:rPr>
              <a:t>System.</a:t>
            </a:r>
            <a:r>
              <a:rPr lang="es-ES" sz="1200" b="1" i="1" dirty="0" err="1">
                <a:solidFill>
                  <a:srgbClr val="0000C0"/>
                </a:solidFill>
                <a:latin typeface="Consolas" panose="020B0609020204030204" pitchFamily="49" charset="0"/>
              </a:rPr>
              <a:t>out</a:t>
            </a:r>
            <a:r>
              <a:rPr lang="es-ES" sz="1200" b="1" i="1" dirty="0" err="1">
                <a:solidFill>
                  <a:srgbClr val="000000"/>
                </a:solidFill>
                <a:latin typeface="Consolas" panose="020B0609020204030204" pitchFamily="49" charset="0"/>
              </a:rPr>
              <a:t>.println</a:t>
            </a:r>
            <a:r>
              <a:rPr lang="es-ES" sz="1200" b="1" i="1" dirty="0">
                <a:solidFill>
                  <a:srgbClr val="000000"/>
                </a:solidFill>
                <a:latin typeface="Consolas" panose="020B0609020204030204" pitchFamily="49" charset="0"/>
              </a:rPr>
              <a:t>(</a:t>
            </a:r>
            <a:r>
              <a:rPr lang="es-ES" sz="1200" b="1" i="1" dirty="0" err="1">
                <a:solidFill>
                  <a:srgbClr val="000000"/>
                </a:solidFill>
                <a:latin typeface="Consolas" panose="020B0609020204030204" pitchFamily="49" charset="0"/>
              </a:rPr>
              <a:t>String.format</a:t>
            </a:r>
            <a:r>
              <a:rPr lang="es-ES" sz="1200" b="1" i="1" dirty="0">
                <a:solidFill>
                  <a:srgbClr val="000000"/>
                </a:solidFill>
                <a:latin typeface="Consolas" panose="020B0609020204030204" pitchFamily="49" charset="0"/>
              </a:rPr>
              <a:t>(</a:t>
            </a:r>
            <a:r>
              <a:rPr lang="es-ES" sz="1200" b="1" i="1" dirty="0">
                <a:solidFill>
                  <a:srgbClr val="2A00FF"/>
                </a:solidFill>
                <a:latin typeface="Consolas" panose="020B0609020204030204" pitchFamily="49" charset="0"/>
              </a:rPr>
              <a:t>"%s: Hola, soy el hilo %s "</a:t>
            </a:r>
            <a:r>
              <a:rPr lang="es-ES" sz="1200" b="1" i="1" dirty="0">
                <a:solidFill>
                  <a:srgbClr val="000000"/>
                </a:solidFill>
                <a:latin typeface="Consolas" panose="020B0609020204030204" pitchFamily="49" charset="0"/>
              </a:rPr>
              <a:t>,</a:t>
            </a:r>
            <a:r>
              <a:rPr lang="es-ES" sz="1200" b="1" i="1" dirty="0" err="1">
                <a:solidFill>
                  <a:srgbClr val="7F0055"/>
                </a:solidFill>
                <a:latin typeface="Consolas" panose="020B0609020204030204" pitchFamily="49" charset="0"/>
              </a:rPr>
              <a:t>this</a:t>
            </a:r>
            <a:r>
              <a:rPr lang="es-ES" sz="1200" b="1" i="1" dirty="0" err="1">
                <a:solidFill>
                  <a:srgbClr val="000000"/>
                </a:solidFill>
                <a:latin typeface="Consolas" panose="020B0609020204030204" pitchFamily="49" charset="0"/>
              </a:rPr>
              <a:t>.</a:t>
            </a:r>
            <a:r>
              <a:rPr lang="es-ES" sz="1200" b="1" i="1" dirty="0" err="1">
                <a:solidFill>
                  <a:srgbClr val="0000C0"/>
                </a:solidFill>
                <a:latin typeface="Consolas" panose="020B0609020204030204" pitchFamily="49" charset="0"/>
              </a:rPr>
              <a:t>nombre</a:t>
            </a:r>
            <a:r>
              <a:rPr lang="es-ES" sz="1200" b="1" i="1" dirty="0">
                <a:solidFill>
                  <a:srgbClr val="000000"/>
                </a:solidFill>
                <a:latin typeface="Consolas" panose="020B0609020204030204" pitchFamily="49" charset="0"/>
              </a:rPr>
              <a:t>, </a:t>
            </a:r>
            <a:r>
              <a:rPr lang="es-ES" sz="1200" b="1" i="1" dirty="0" err="1">
                <a:solidFill>
                  <a:srgbClr val="7F0055"/>
                </a:solidFill>
                <a:latin typeface="Consolas" panose="020B0609020204030204" pitchFamily="49" charset="0"/>
              </a:rPr>
              <a:t>this</a:t>
            </a:r>
            <a:r>
              <a:rPr lang="es-ES" sz="1200" b="1" i="1" dirty="0" err="1">
                <a:solidFill>
                  <a:srgbClr val="000000"/>
                </a:solidFill>
                <a:latin typeface="Consolas" panose="020B0609020204030204" pitchFamily="49" charset="0"/>
              </a:rPr>
              <a:t>.</a:t>
            </a:r>
            <a:r>
              <a:rPr lang="es-ES" sz="1200" b="1" i="1" dirty="0" err="1">
                <a:solidFill>
                  <a:srgbClr val="0000C0"/>
                </a:solidFill>
                <a:latin typeface="Consolas" panose="020B0609020204030204" pitchFamily="49" charset="0"/>
              </a:rPr>
              <a:t>nombre</a:t>
            </a:r>
            <a:r>
              <a:rPr lang="es-ES" sz="1200" b="1" i="1" dirty="0">
                <a:solidFill>
                  <a:srgbClr val="000000"/>
                </a:solidFill>
                <a:latin typeface="Consolas" panose="020B0609020204030204" pitchFamily="49" charset="0"/>
              </a:rPr>
              <a:t>));</a:t>
            </a:r>
          </a:p>
          <a:p>
            <a:pPr algn="l"/>
            <a:r>
              <a:rPr lang="es-ES" sz="1200" dirty="0">
                <a:solidFill>
                  <a:srgbClr val="000000"/>
                </a:solidFill>
                <a:latin typeface="Consolas" panose="020B0609020204030204" pitchFamily="49" charset="0"/>
              </a:rPr>
              <a:t>      </a:t>
            </a:r>
            <a:r>
              <a:rPr lang="es-ES" sz="1200" dirty="0" err="1">
                <a:solidFill>
                  <a:srgbClr val="000000"/>
                </a:solidFill>
                <a:latin typeface="Consolas" panose="020B0609020204030204" pitchFamily="49" charset="0"/>
              </a:rPr>
              <a:t>System.</a:t>
            </a:r>
            <a:r>
              <a:rPr lang="es-ES" sz="1200" b="1" i="1" dirty="0" err="1">
                <a:solidFill>
                  <a:srgbClr val="0000C0"/>
                </a:solidFill>
                <a:latin typeface="Consolas" panose="020B0609020204030204" pitchFamily="49" charset="0"/>
              </a:rPr>
              <a:t>out</a:t>
            </a:r>
            <a:r>
              <a:rPr lang="es-ES" sz="1200" b="1" i="1" dirty="0" err="1">
                <a:solidFill>
                  <a:srgbClr val="000000"/>
                </a:solidFill>
                <a:latin typeface="Consolas" panose="020B0609020204030204" pitchFamily="49" charset="0"/>
              </a:rPr>
              <a:t>.println</a:t>
            </a:r>
            <a:r>
              <a:rPr lang="es-ES" sz="1200" b="1" i="1" dirty="0">
                <a:solidFill>
                  <a:srgbClr val="000000"/>
                </a:solidFill>
                <a:latin typeface="Consolas" panose="020B0609020204030204" pitchFamily="49" charset="0"/>
              </a:rPr>
              <a:t>(</a:t>
            </a:r>
            <a:r>
              <a:rPr lang="es-ES" sz="1200" b="1" i="1" dirty="0" err="1">
                <a:solidFill>
                  <a:srgbClr val="000000"/>
                </a:solidFill>
                <a:latin typeface="Consolas" panose="020B0609020204030204" pitchFamily="49" charset="0"/>
              </a:rPr>
              <a:t>String.format</a:t>
            </a:r>
            <a:r>
              <a:rPr lang="es-ES" sz="1200" b="1" i="1" dirty="0">
                <a:solidFill>
                  <a:srgbClr val="000000"/>
                </a:solidFill>
                <a:latin typeface="Consolas" panose="020B0609020204030204" pitchFamily="49" charset="0"/>
              </a:rPr>
              <a:t>(</a:t>
            </a:r>
            <a:r>
              <a:rPr lang="es-ES" sz="1200" b="1" i="1" dirty="0">
                <a:solidFill>
                  <a:srgbClr val="2A00FF"/>
                </a:solidFill>
                <a:latin typeface="Consolas" panose="020B0609020204030204" pitchFamily="49" charset="0"/>
              </a:rPr>
              <a:t>"%s: He terminado "</a:t>
            </a:r>
            <a:r>
              <a:rPr lang="es-ES" sz="1200" b="1" i="1" dirty="0">
                <a:solidFill>
                  <a:srgbClr val="000000"/>
                </a:solidFill>
                <a:latin typeface="Consolas" panose="020B0609020204030204" pitchFamily="49" charset="0"/>
              </a:rPr>
              <a:t>,</a:t>
            </a:r>
            <a:r>
              <a:rPr lang="es-ES" sz="1200" b="1" i="1" dirty="0" err="1">
                <a:solidFill>
                  <a:srgbClr val="7F0055"/>
                </a:solidFill>
                <a:latin typeface="Consolas" panose="020B0609020204030204" pitchFamily="49" charset="0"/>
              </a:rPr>
              <a:t>this</a:t>
            </a:r>
            <a:r>
              <a:rPr lang="es-ES" sz="1200" b="1" i="1" dirty="0" err="1">
                <a:solidFill>
                  <a:srgbClr val="000000"/>
                </a:solidFill>
                <a:latin typeface="Consolas" panose="020B0609020204030204" pitchFamily="49" charset="0"/>
              </a:rPr>
              <a:t>.</a:t>
            </a:r>
            <a:r>
              <a:rPr lang="es-ES" sz="1200" b="1" i="1" dirty="0" err="1">
                <a:solidFill>
                  <a:srgbClr val="0000C0"/>
                </a:solidFill>
                <a:latin typeface="Consolas" panose="020B0609020204030204" pitchFamily="49" charset="0"/>
              </a:rPr>
              <a:t>nombre</a:t>
            </a:r>
            <a:r>
              <a:rPr lang="es-ES" sz="1200" b="1" i="1" dirty="0">
                <a:solidFill>
                  <a:srgbClr val="000000"/>
                </a:solidFill>
                <a:latin typeface="Consolas" panose="020B0609020204030204" pitchFamily="49" charset="0"/>
              </a:rPr>
              <a:t>));</a:t>
            </a:r>
          </a:p>
          <a:p>
            <a:pPr algn="l"/>
            <a:r>
              <a:rPr lang="es-ES" sz="1200" dirty="0">
                <a:solidFill>
                  <a:srgbClr val="000000"/>
                </a:solidFill>
                <a:latin typeface="Consolas" panose="020B0609020204030204" pitchFamily="49" charset="0"/>
              </a:rPr>
              <a:t>    }</a:t>
            </a:r>
          </a:p>
          <a:p>
            <a:pPr algn="l"/>
            <a:r>
              <a:rPr lang="es-ES" sz="1200" dirty="0">
                <a:solidFill>
                  <a:srgbClr val="000000"/>
                </a:solidFill>
                <a:latin typeface="Consolas" panose="020B0609020204030204" pitchFamily="49" charset="0"/>
              </a:rPr>
              <a:t>}</a:t>
            </a:r>
          </a:p>
          <a:p>
            <a:endParaRPr lang="es-ES" dirty="0"/>
          </a:p>
        </p:txBody>
      </p:sp>
      <p:sp>
        <p:nvSpPr>
          <p:cNvPr id="11" name="CuadroTexto 10">
            <a:extLst>
              <a:ext uri="{FF2B5EF4-FFF2-40B4-BE49-F238E27FC236}">
                <a16:creationId xmlns:a16="http://schemas.microsoft.com/office/drawing/2014/main" id="{C4CD33AF-37E5-4B5A-9715-E9A3CE984F2E}"/>
              </a:ext>
            </a:extLst>
          </p:cNvPr>
          <p:cNvSpPr txBox="1"/>
          <p:nvPr/>
        </p:nvSpPr>
        <p:spPr>
          <a:xfrm>
            <a:off x="6521949" y="3823094"/>
            <a:ext cx="5474014" cy="3046988"/>
          </a:xfrm>
          <a:prstGeom prst="rect">
            <a:avLst/>
          </a:prstGeom>
          <a:noFill/>
        </p:spPr>
        <p:txBody>
          <a:bodyPr wrap="square" rtlCol="0">
            <a:spAutoFit/>
          </a:bodyPr>
          <a:lstStyle/>
          <a:p>
            <a:pPr algn="l"/>
            <a:r>
              <a:rPr lang="es-ES" sz="1200" b="1" dirty="0" err="1">
                <a:solidFill>
                  <a:srgbClr val="7F0055"/>
                </a:solidFill>
                <a:latin typeface="Consolas" panose="020B0609020204030204" pitchFamily="49" charset="0"/>
              </a:rPr>
              <a:t>package</a:t>
            </a:r>
            <a:r>
              <a:rPr lang="es-ES" sz="1200" b="1" dirty="0">
                <a:solidFill>
                  <a:srgbClr val="000000"/>
                </a:solidFill>
                <a:latin typeface="Consolas" panose="020B0609020204030204" pitchFamily="49" charset="0"/>
              </a:rPr>
              <a:t> ejemplos;</a:t>
            </a:r>
          </a:p>
          <a:p>
            <a:pPr algn="l"/>
            <a:endParaRPr lang="es-ES" sz="1200" b="1" dirty="0">
              <a:solidFill>
                <a:srgbClr val="000000"/>
              </a:solidFill>
              <a:latin typeface="Consolas" panose="020B0609020204030204" pitchFamily="49" charset="0"/>
            </a:endParaRPr>
          </a:p>
          <a:p>
            <a:pPr algn="l"/>
            <a:r>
              <a:rPr lang="es-ES" sz="1200" b="1" dirty="0" err="1">
                <a:solidFill>
                  <a:srgbClr val="7F0055"/>
                </a:solidFill>
                <a:latin typeface="Consolas" panose="020B0609020204030204" pitchFamily="49" charset="0"/>
              </a:rPr>
              <a:t>public</a:t>
            </a:r>
            <a:r>
              <a:rPr lang="es-ES" sz="1200" b="1" dirty="0">
                <a:solidFill>
                  <a:srgbClr val="000000"/>
                </a:solidFill>
                <a:latin typeface="Consolas" panose="020B0609020204030204" pitchFamily="49" charset="0"/>
              </a:rPr>
              <a:t> </a:t>
            </a:r>
            <a:r>
              <a:rPr lang="es-ES" sz="1200" b="1" dirty="0" err="1">
                <a:solidFill>
                  <a:srgbClr val="7F0055"/>
                </a:solidFill>
                <a:latin typeface="Consolas" panose="020B0609020204030204" pitchFamily="49" charset="0"/>
              </a:rPr>
              <a:t>class</a:t>
            </a:r>
            <a:r>
              <a:rPr lang="es-ES" sz="1200" b="1" dirty="0">
                <a:solidFill>
                  <a:srgbClr val="000000"/>
                </a:solidFill>
                <a:latin typeface="Consolas" panose="020B0609020204030204" pitchFamily="49" charset="0"/>
              </a:rPr>
              <a:t> </a:t>
            </a:r>
            <a:r>
              <a:rPr lang="es-ES" sz="1200" b="1" dirty="0" err="1">
                <a:solidFill>
                  <a:srgbClr val="000000"/>
                </a:solidFill>
                <a:latin typeface="Consolas" panose="020B0609020204030204" pitchFamily="49" charset="0"/>
              </a:rPr>
              <a:t>LanzaHilos</a:t>
            </a:r>
            <a:r>
              <a:rPr lang="es-ES" sz="1200" b="1" dirty="0">
                <a:solidFill>
                  <a:srgbClr val="000000"/>
                </a:solidFill>
                <a:latin typeface="Consolas" panose="020B0609020204030204" pitchFamily="49" charset="0"/>
              </a:rPr>
              <a:t> {</a:t>
            </a:r>
          </a:p>
          <a:p>
            <a:pPr lvl="1"/>
            <a:r>
              <a:rPr lang="en-US" sz="1200" b="1" dirty="0">
                <a:solidFill>
                  <a:srgbClr val="7F0055"/>
                </a:solidFill>
                <a:latin typeface="Consolas" panose="020B0609020204030204" pitchFamily="49" charset="0"/>
              </a:rPr>
              <a:t>public</a:t>
            </a:r>
            <a:r>
              <a:rPr lang="en-US" sz="1200" b="1" dirty="0">
                <a:solidFill>
                  <a:srgbClr val="000000"/>
                </a:solidFill>
                <a:latin typeface="Consolas" panose="020B0609020204030204" pitchFamily="49" charset="0"/>
              </a:rPr>
              <a:t> </a:t>
            </a:r>
            <a:r>
              <a:rPr lang="en-US" sz="1200" b="1" dirty="0">
                <a:solidFill>
                  <a:srgbClr val="7F0055"/>
                </a:solidFill>
                <a:latin typeface="Consolas" panose="020B0609020204030204" pitchFamily="49" charset="0"/>
              </a:rPr>
              <a:t>static</a:t>
            </a:r>
            <a:r>
              <a:rPr lang="en-US" sz="1200" b="1" dirty="0">
                <a:solidFill>
                  <a:srgbClr val="000000"/>
                </a:solidFill>
                <a:latin typeface="Consolas" panose="020B0609020204030204" pitchFamily="49" charset="0"/>
              </a:rPr>
              <a:t> </a:t>
            </a:r>
            <a:r>
              <a:rPr lang="en-US" sz="1200" b="1" dirty="0">
                <a:solidFill>
                  <a:srgbClr val="7F0055"/>
                </a:solidFill>
                <a:latin typeface="Consolas" panose="020B0609020204030204" pitchFamily="49" charset="0"/>
              </a:rPr>
              <a:t>void</a:t>
            </a:r>
            <a:r>
              <a:rPr lang="en-US" sz="1200" b="1" dirty="0">
                <a:solidFill>
                  <a:srgbClr val="000000"/>
                </a:solidFill>
                <a:latin typeface="Consolas" panose="020B0609020204030204" pitchFamily="49" charset="0"/>
              </a:rPr>
              <a:t> main(String[] </a:t>
            </a:r>
            <a:r>
              <a:rPr lang="en-US" sz="1200" b="1" dirty="0" err="1">
                <a:solidFill>
                  <a:srgbClr val="6A3E3E"/>
                </a:solidFill>
                <a:latin typeface="Consolas" panose="020B0609020204030204" pitchFamily="49" charset="0"/>
              </a:rPr>
              <a:t>args</a:t>
            </a:r>
            <a:r>
              <a:rPr lang="en-US" sz="1200" b="1" dirty="0">
                <a:solidFill>
                  <a:srgbClr val="000000"/>
                </a:solidFill>
                <a:latin typeface="Consolas" panose="020B0609020204030204" pitchFamily="49" charset="0"/>
              </a:rPr>
              <a:t>) {</a:t>
            </a:r>
          </a:p>
          <a:p>
            <a:pPr lvl="1"/>
            <a:endParaRPr lang="es-ES" sz="1200" dirty="0">
              <a:latin typeface="Consolas" panose="020B0609020204030204" pitchFamily="49" charset="0"/>
            </a:endParaRPr>
          </a:p>
          <a:p>
            <a:pPr lvl="1"/>
            <a:r>
              <a:rPr lang="es-ES" sz="1200" dirty="0">
                <a:solidFill>
                  <a:srgbClr val="3F7F5F"/>
                </a:solidFill>
                <a:latin typeface="Consolas" panose="020B0609020204030204" pitchFamily="49" charset="0"/>
              </a:rPr>
              <a:t>//</a:t>
            </a:r>
            <a:r>
              <a:rPr lang="es-ES" sz="1200" u="sng" dirty="0">
                <a:solidFill>
                  <a:srgbClr val="3F7F5F"/>
                </a:solidFill>
                <a:latin typeface="Consolas" panose="020B0609020204030204" pitchFamily="49" charset="0"/>
              </a:rPr>
              <a:t>Creamos hilos pasándole una clase que implemente </a:t>
            </a:r>
            <a:r>
              <a:rPr lang="es-ES" sz="1200" u="sng" dirty="0" err="1">
                <a:solidFill>
                  <a:srgbClr val="3F7F5F"/>
                </a:solidFill>
                <a:latin typeface="Consolas" panose="020B0609020204030204" pitchFamily="49" charset="0"/>
              </a:rPr>
              <a:t>Runnable</a:t>
            </a:r>
            <a:endParaRPr lang="es-ES" sz="1200" u="sng" dirty="0">
              <a:solidFill>
                <a:srgbClr val="3F7F5F"/>
              </a:solidFill>
              <a:latin typeface="Consolas" panose="020B0609020204030204" pitchFamily="49" charset="0"/>
            </a:endParaRPr>
          </a:p>
          <a:p>
            <a:pPr lvl="1"/>
            <a:r>
              <a:rPr lang="en-US" sz="1200" dirty="0">
                <a:solidFill>
                  <a:srgbClr val="000000"/>
                </a:solidFill>
                <a:latin typeface="Consolas" panose="020B0609020204030204" pitchFamily="49" charset="0"/>
              </a:rPr>
              <a:t>Thread </a:t>
            </a:r>
            <a:r>
              <a:rPr lang="en-US" sz="1200" dirty="0">
                <a:solidFill>
                  <a:srgbClr val="6A3E3E"/>
                </a:solidFill>
                <a:latin typeface="Consolas" panose="020B0609020204030204" pitchFamily="49" charset="0"/>
              </a:rPr>
              <a:t>hilo1</a:t>
            </a:r>
            <a:r>
              <a:rPr lang="en-US" sz="1200" dirty="0">
                <a:solidFill>
                  <a:srgbClr val="000000"/>
                </a:solidFill>
                <a:latin typeface="Consolas" panose="020B0609020204030204" pitchFamily="49" charset="0"/>
              </a:rPr>
              <a:t> = </a:t>
            </a:r>
            <a:r>
              <a:rPr lang="en-US" sz="1200" b="1" dirty="0">
                <a:solidFill>
                  <a:srgbClr val="7F0055"/>
                </a:solidFill>
                <a:latin typeface="Consolas" panose="020B0609020204030204" pitchFamily="49" charset="0"/>
              </a:rPr>
              <a:t>new</a:t>
            </a:r>
            <a:r>
              <a:rPr lang="en-US" sz="1200" b="1" dirty="0">
                <a:solidFill>
                  <a:srgbClr val="000000"/>
                </a:solidFill>
                <a:latin typeface="Consolas" panose="020B0609020204030204" pitchFamily="49" charset="0"/>
              </a:rPr>
              <a:t> Thread(</a:t>
            </a:r>
            <a:r>
              <a:rPr lang="en-US" sz="1200" b="1" dirty="0">
                <a:solidFill>
                  <a:srgbClr val="7F0055"/>
                </a:solidFill>
                <a:latin typeface="Consolas" panose="020B0609020204030204" pitchFamily="49" charset="0"/>
              </a:rPr>
              <a:t>new</a:t>
            </a:r>
            <a:r>
              <a:rPr lang="en-US" sz="1200" b="1" dirty="0">
                <a:solidFill>
                  <a:srgbClr val="000000"/>
                </a:solidFill>
                <a:latin typeface="Consolas" panose="020B0609020204030204" pitchFamily="49" charset="0"/>
              </a:rPr>
              <a:t> Hilo(</a:t>
            </a:r>
            <a:r>
              <a:rPr lang="en-US" sz="1200" b="1" dirty="0">
                <a:solidFill>
                  <a:srgbClr val="2A00FF"/>
                </a:solidFill>
                <a:latin typeface="Consolas" panose="020B0609020204030204" pitchFamily="49" charset="0"/>
              </a:rPr>
              <a:t>"H1"</a:t>
            </a:r>
            <a:r>
              <a:rPr lang="en-US" sz="1200" b="1" dirty="0">
                <a:solidFill>
                  <a:srgbClr val="000000"/>
                </a:solidFill>
                <a:latin typeface="Consolas" panose="020B0609020204030204" pitchFamily="49" charset="0"/>
              </a:rPr>
              <a:t>));</a:t>
            </a:r>
          </a:p>
          <a:p>
            <a:pPr lvl="1"/>
            <a:r>
              <a:rPr lang="en-US" sz="1200" dirty="0">
                <a:solidFill>
                  <a:srgbClr val="000000"/>
                </a:solidFill>
                <a:latin typeface="Consolas" panose="020B0609020204030204" pitchFamily="49" charset="0"/>
              </a:rPr>
              <a:t>Thread </a:t>
            </a:r>
            <a:r>
              <a:rPr lang="en-US" sz="1200" dirty="0">
                <a:solidFill>
                  <a:srgbClr val="6A3E3E"/>
                </a:solidFill>
                <a:latin typeface="Consolas" panose="020B0609020204030204" pitchFamily="49" charset="0"/>
              </a:rPr>
              <a:t>hilo2</a:t>
            </a:r>
            <a:r>
              <a:rPr lang="en-US" sz="1200" dirty="0">
                <a:solidFill>
                  <a:srgbClr val="000000"/>
                </a:solidFill>
                <a:latin typeface="Consolas" panose="020B0609020204030204" pitchFamily="49" charset="0"/>
              </a:rPr>
              <a:t> = </a:t>
            </a:r>
            <a:r>
              <a:rPr lang="en-US" sz="1200" b="1" dirty="0">
                <a:solidFill>
                  <a:srgbClr val="7F0055"/>
                </a:solidFill>
                <a:latin typeface="Consolas" panose="020B0609020204030204" pitchFamily="49" charset="0"/>
              </a:rPr>
              <a:t>new</a:t>
            </a:r>
            <a:r>
              <a:rPr lang="en-US" sz="1200" b="1" dirty="0">
                <a:solidFill>
                  <a:srgbClr val="000000"/>
                </a:solidFill>
                <a:latin typeface="Consolas" panose="020B0609020204030204" pitchFamily="49" charset="0"/>
              </a:rPr>
              <a:t> Thread(</a:t>
            </a:r>
            <a:r>
              <a:rPr lang="en-US" sz="1200" b="1" dirty="0">
                <a:solidFill>
                  <a:srgbClr val="7F0055"/>
                </a:solidFill>
                <a:latin typeface="Consolas" panose="020B0609020204030204" pitchFamily="49" charset="0"/>
              </a:rPr>
              <a:t>new</a:t>
            </a:r>
            <a:r>
              <a:rPr lang="en-US" sz="1200" b="1" dirty="0">
                <a:solidFill>
                  <a:srgbClr val="000000"/>
                </a:solidFill>
                <a:latin typeface="Consolas" panose="020B0609020204030204" pitchFamily="49" charset="0"/>
              </a:rPr>
              <a:t> Hilo(</a:t>
            </a:r>
            <a:r>
              <a:rPr lang="en-US" sz="1200" b="1" dirty="0">
                <a:solidFill>
                  <a:srgbClr val="2A00FF"/>
                </a:solidFill>
                <a:latin typeface="Consolas" panose="020B0609020204030204" pitchFamily="49" charset="0"/>
              </a:rPr>
              <a:t>"H2"</a:t>
            </a:r>
            <a:r>
              <a:rPr lang="en-US" sz="1200" b="1" dirty="0">
                <a:solidFill>
                  <a:srgbClr val="000000"/>
                </a:solidFill>
                <a:latin typeface="Consolas" panose="020B0609020204030204" pitchFamily="49" charset="0"/>
              </a:rPr>
              <a:t>));</a:t>
            </a:r>
          </a:p>
          <a:p>
            <a:pPr lvl="1"/>
            <a:endParaRPr lang="es-ES" sz="1200" dirty="0">
              <a:latin typeface="Consolas" panose="020B0609020204030204" pitchFamily="49" charset="0"/>
            </a:endParaRPr>
          </a:p>
          <a:p>
            <a:pPr lvl="1"/>
            <a:r>
              <a:rPr lang="es-ES" sz="1200" dirty="0">
                <a:solidFill>
                  <a:srgbClr val="6A3E3E"/>
                </a:solidFill>
                <a:latin typeface="Consolas" panose="020B0609020204030204" pitchFamily="49" charset="0"/>
              </a:rPr>
              <a:t>hilo1</a:t>
            </a:r>
            <a:r>
              <a:rPr lang="es-ES" sz="1200" dirty="0">
                <a:solidFill>
                  <a:srgbClr val="000000"/>
                </a:solidFill>
                <a:latin typeface="Consolas" panose="020B0609020204030204" pitchFamily="49" charset="0"/>
              </a:rPr>
              <a:t>.start();</a:t>
            </a:r>
          </a:p>
          <a:p>
            <a:pPr lvl="1"/>
            <a:r>
              <a:rPr lang="es-ES" sz="1200" dirty="0">
                <a:solidFill>
                  <a:srgbClr val="6A3E3E"/>
                </a:solidFill>
                <a:latin typeface="Consolas" panose="020B0609020204030204" pitchFamily="49" charset="0"/>
              </a:rPr>
              <a:t>hilo2</a:t>
            </a:r>
            <a:r>
              <a:rPr lang="es-ES" sz="1200" dirty="0">
                <a:solidFill>
                  <a:srgbClr val="000000"/>
                </a:solidFill>
                <a:latin typeface="Consolas" panose="020B0609020204030204" pitchFamily="49" charset="0"/>
              </a:rPr>
              <a:t>.start();</a:t>
            </a:r>
          </a:p>
          <a:p>
            <a:pPr lvl="1"/>
            <a:endParaRPr lang="es-ES" sz="1200" dirty="0">
              <a:latin typeface="Consolas" panose="020B0609020204030204" pitchFamily="49" charset="0"/>
            </a:endParaRPr>
          </a:p>
          <a:p>
            <a:pPr lvl="1"/>
            <a:r>
              <a:rPr lang="es-ES" sz="1200" dirty="0" err="1">
                <a:solidFill>
                  <a:srgbClr val="000000"/>
                </a:solidFill>
                <a:latin typeface="Consolas" panose="020B0609020204030204" pitchFamily="49" charset="0"/>
              </a:rPr>
              <a:t>System.</a:t>
            </a:r>
            <a:r>
              <a:rPr lang="es-ES" sz="1200" b="1" i="1" dirty="0" err="1">
                <a:solidFill>
                  <a:srgbClr val="0000C0"/>
                </a:solidFill>
                <a:latin typeface="Consolas" panose="020B0609020204030204" pitchFamily="49" charset="0"/>
              </a:rPr>
              <a:t>out</a:t>
            </a:r>
            <a:r>
              <a:rPr lang="es-ES" sz="1200" b="1" i="1" dirty="0" err="1">
                <a:solidFill>
                  <a:srgbClr val="000000"/>
                </a:solidFill>
                <a:latin typeface="Consolas" panose="020B0609020204030204" pitchFamily="49" charset="0"/>
              </a:rPr>
              <a:t>.println</a:t>
            </a:r>
            <a:r>
              <a:rPr lang="es-ES" sz="1200" b="1" i="1" dirty="0">
                <a:solidFill>
                  <a:srgbClr val="000000"/>
                </a:solidFill>
                <a:latin typeface="Consolas" panose="020B0609020204030204" pitchFamily="49" charset="0"/>
              </a:rPr>
              <a:t>(</a:t>
            </a:r>
            <a:r>
              <a:rPr lang="es-ES" sz="1200" b="1" i="1" dirty="0">
                <a:solidFill>
                  <a:srgbClr val="2A00FF"/>
                </a:solidFill>
                <a:latin typeface="Consolas" panose="020B0609020204030204" pitchFamily="49" charset="0"/>
              </a:rPr>
              <a:t>"El hilo principal ha terminado"</a:t>
            </a:r>
            <a:r>
              <a:rPr lang="es-ES" sz="1200" b="1" i="1" dirty="0">
                <a:solidFill>
                  <a:srgbClr val="000000"/>
                </a:solidFill>
                <a:latin typeface="Consolas" panose="020B0609020204030204" pitchFamily="49" charset="0"/>
              </a:rPr>
              <a:t>);</a:t>
            </a:r>
          </a:p>
          <a:p>
            <a:pPr algn="l"/>
            <a:r>
              <a:rPr lang="es-ES" sz="1200" dirty="0">
                <a:solidFill>
                  <a:srgbClr val="000000"/>
                </a:solidFill>
                <a:latin typeface="Consolas" panose="020B0609020204030204" pitchFamily="49" charset="0"/>
              </a:rPr>
              <a:t>	}</a:t>
            </a:r>
          </a:p>
          <a:p>
            <a:pPr algn="l"/>
            <a:r>
              <a:rPr lang="es-ES" sz="1200" dirty="0">
                <a:solidFill>
                  <a:srgbClr val="000000"/>
                </a:solidFill>
                <a:latin typeface="Consolas" panose="020B0609020204030204" pitchFamily="49" charset="0"/>
              </a:rPr>
              <a:t>}</a:t>
            </a:r>
            <a:endParaRPr lang="es-ES" sz="1200" dirty="0"/>
          </a:p>
        </p:txBody>
      </p:sp>
    </p:spTree>
    <p:extLst>
      <p:ext uri="{BB962C8B-B14F-4D97-AF65-F5344CB8AC3E}">
        <p14:creationId xmlns:p14="http://schemas.microsoft.com/office/powerpoint/2010/main" val="35364097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88EEA8BF-AC34-4D10-BDA3-3A3007E142A3}"/>
              </a:ext>
            </a:extLst>
          </p:cNvPr>
          <p:cNvSpPr>
            <a:spLocks noGrp="1"/>
          </p:cNvSpPr>
          <p:nvPr>
            <p:ph type="title"/>
          </p:nvPr>
        </p:nvSpPr>
        <p:spPr>
          <a:xfrm>
            <a:off x="643467" y="321734"/>
            <a:ext cx="10905066" cy="594173"/>
          </a:xfrm>
        </p:spPr>
        <p:txBody>
          <a:bodyPr>
            <a:normAutofit/>
          </a:bodyPr>
          <a:lstStyle/>
          <a:p>
            <a:r>
              <a:rPr lang="es-ES" sz="3600" b="1" u="sng" dirty="0"/>
              <a:t>Formas de crear y arrancar hilos</a:t>
            </a:r>
          </a:p>
        </p:txBody>
      </p:sp>
      <p:sp>
        <p:nvSpPr>
          <p:cNvPr id="3" name="Marcador de contenido 2">
            <a:extLst>
              <a:ext uri="{FF2B5EF4-FFF2-40B4-BE49-F238E27FC236}">
                <a16:creationId xmlns:a16="http://schemas.microsoft.com/office/drawing/2014/main" id="{B3FA1E7A-1131-493D-8FB5-8EC609B3755A}"/>
              </a:ext>
            </a:extLst>
          </p:cNvPr>
          <p:cNvSpPr>
            <a:spLocks noGrp="1"/>
          </p:cNvSpPr>
          <p:nvPr>
            <p:ph idx="1"/>
          </p:nvPr>
        </p:nvSpPr>
        <p:spPr>
          <a:xfrm>
            <a:off x="643467" y="1062322"/>
            <a:ext cx="10905066" cy="5252531"/>
          </a:xfrm>
        </p:spPr>
        <p:txBody>
          <a:bodyPr>
            <a:normAutofit/>
          </a:bodyPr>
          <a:lstStyle/>
          <a:p>
            <a:r>
              <a:rPr lang="es-ES" sz="3200" dirty="0"/>
              <a:t>Extendiendo la clase </a:t>
            </a:r>
            <a:r>
              <a:rPr lang="es-ES" sz="3200" dirty="0" err="1"/>
              <a:t>Thread</a:t>
            </a:r>
            <a:endParaRPr lang="es-ES" sz="3200" dirty="0"/>
          </a:p>
          <a:p>
            <a:pPr lvl="1"/>
            <a:r>
              <a:rPr lang="es-ES" dirty="0"/>
              <a:t>La clase </a:t>
            </a:r>
            <a:r>
              <a:rPr lang="es-ES" i="1" dirty="0"/>
              <a:t>es</a:t>
            </a:r>
            <a:r>
              <a:rPr lang="es-ES" dirty="0"/>
              <a:t> un hilo</a:t>
            </a:r>
          </a:p>
          <a:p>
            <a:pPr lvl="1"/>
            <a:r>
              <a:rPr lang="es-ES" dirty="0" err="1"/>
              <a:t>Sobreescribimos</a:t>
            </a:r>
            <a:r>
              <a:rPr lang="es-ES" dirty="0"/>
              <a:t> el método run para añadir la funcionalidad </a:t>
            </a:r>
          </a:p>
          <a:p>
            <a:pPr lvl="1"/>
            <a:r>
              <a:rPr lang="es-ES" dirty="0"/>
              <a:t>No podremos heredar de nadie más (en Java sólo se puede tener un padre </a:t>
            </a:r>
            <a:r>
              <a:rPr lang="es-ES" dirty="0">
                <a:sym typeface="Wingdings" panose="05000000000000000000" pitchFamily="2" charset="2"/>
              </a:rPr>
              <a:t>)</a:t>
            </a:r>
            <a:endParaRPr lang="es-ES" sz="2800" dirty="0"/>
          </a:p>
          <a:p>
            <a:r>
              <a:rPr lang="es-ES" sz="2400" dirty="0"/>
              <a:t>Ejemplo:</a:t>
            </a:r>
          </a:p>
          <a:p>
            <a:pPr lvl="1"/>
            <a:endParaRPr lang="es-ES" sz="1600" dirty="0"/>
          </a:p>
        </p:txBody>
      </p:sp>
      <p:sp>
        <p:nvSpPr>
          <p:cNvPr id="10"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CuadroTexto 3">
            <a:extLst>
              <a:ext uri="{FF2B5EF4-FFF2-40B4-BE49-F238E27FC236}">
                <a16:creationId xmlns:a16="http://schemas.microsoft.com/office/drawing/2014/main" id="{FFCF5530-E191-4595-BFBB-22DA75BBD5D3}"/>
              </a:ext>
            </a:extLst>
          </p:cNvPr>
          <p:cNvSpPr txBox="1"/>
          <p:nvPr/>
        </p:nvSpPr>
        <p:spPr>
          <a:xfrm>
            <a:off x="1003760" y="3823094"/>
            <a:ext cx="5157896" cy="2523768"/>
          </a:xfrm>
          <a:prstGeom prst="rect">
            <a:avLst/>
          </a:prstGeom>
          <a:noFill/>
        </p:spPr>
        <p:txBody>
          <a:bodyPr wrap="square" rtlCol="0">
            <a:spAutoFit/>
          </a:bodyPr>
          <a:lstStyle/>
          <a:p>
            <a:pPr algn="l"/>
            <a:r>
              <a:rPr lang="es-ES" sz="1400" b="1" dirty="0" err="1">
                <a:solidFill>
                  <a:srgbClr val="7F0055"/>
                </a:solidFill>
                <a:latin typeface="Consolas" panose="020B0609020204030204" pitchFamily="49" charset="0"/>
              </a:rPr>
              <a:t>package</a:t>
            </a:r>
            <a:r>
              <a:rPr lang="es-ES" sz="1400" b="1" dirty="0">
                <a:solidFill>
                  <a:srgbClr val="000000"/>
                </a:solidFill>
                <a:latin typeface="Consolas" panose="020B0609020204030204" pitchFamily="49" charset="0"/>
              </a:rPr>
              <a:t> ejemplos;</a:t>
            </a:r>
          </a:p>
          <a:p>
            <a:pPr algn="l"/>
            <a:endParaRPr lang="es-ES" sz="1400" dirty="0">
              <a:latin typeface="Consolas" panose="020B0609020204030204" pitchFamily="49" charset="0"/>
            </a:endParaRPr>
          </a:p>
          <a:p>
            <a:pPr algn="l"/>
            <a:r>
              <a:rPr lang="en-US" sz="1400" b="1" dirty="0">
                <a:solidFill>
                  <a:srgbClr val="7F0055"/>
                </a:solidFill>
                <a:latin typeface="Consolas" panose="020B0609020204030204" pitchFamily="49" charset="0"/>
              </a:rPr>
              <a:t>public</a:t>
            </a:r>
            <a:r>
              <a:rPr lang="en-US" sz="1400" b="1" dirty="0">
                <a:solidFill>
                  <a:srgbClr val="000000"/>
                </a:solidFill>
                <a:latin typeface="Consolas" panose="020B0609020204030204" pitchFamily="49" charset="0"/>
              </a:rPr>
              <a:t> </a:t>
            </a:r>
            <a:r>
              <a:rPr lang="en-US" sz="1400" b="1" dirty="0">
                <a:solidFill>
                  <a:srgbClr val="7F0055"/>
                </a:solidFill>
                <a:latin typeface="Consolas" panose="020B0609020204030204" pitchFamily="49" charset="0"/>
              </a:rPr>
              <a:t>class</a:t>
            </a:r>
            <a:r>
              <a:rPr lang="en-US" sz="1400" b="1" dirty="0">
                <a:solidFill>
                  <a:srgbClr val="000000"/>
                </a:solidFill>
                <a:latin typeface="Consolas" panose="020B0609020204030204" pitchFamily="49" charset="0"/>
              </a:rPr>
              <a:t> </a:t>
            </a:r>
            <a:r>
              <a:rPr lang="en-US" sz="1400" b="1" dirty="0" err="1">
                <a:solidFill>
                  <a:srgbClr val="000000"/>
                </a:solidFill>
                <a:latin typeface="Consolas" panose="020B0609020204030204" pitchFamily="49" charset="0"/>
              </a:rPr>
              <a:t>HiloThread</a:t>
            </a:r>
            <a:r>
              <a:rPr lang="en-US" sz="1400" b="1" dirty="0">
                <a:solidFill>
                  <a:srgbClr val="000000"/>
                </a:solidFill>
                <a:latin typeface="Consolas" panose="020B0609020204030204" pitchFamily="49" charset="0"/>
              </a:rPr>
              <a:t> </a:t>
            </a:r>
            <a:r>
              <a:rPr lang="en-US" sz="1400" b="1" dirty="0">
                <a:solidFill>
                  <a:srgbClr val="7F0055"/>
                </a:solidFill>
                <a:latin typeface="Consolas" panose="020B0609020204030204" pitchFamily="49" charset="0"/>
              </a:rPr>
              <a:t>extends</a:t>
            </a:r>
            <a:r>
              <a:rPr lang="en-US" sz="1400" b="1" dirty="0">
                <a:solidFill>
                  <a:srgbClr val="000000"/>
                </a:solidFill>
                <a:latin typeface="Consolas" panose="020B0609020204030204" pitchFamily="49" charset="0"/>
              </a:rPr>
              <a:t> Thread{</a:t>
            </a:r>
          </a:p>
          <a:p>
            <a:pPr algn="l"/>
            <a:endParaRPr lang="es-ES" sz="1400" dirty="0">
              <a:latin typeface="Consolas" panose="020B0609020204030204" pitchFamily="49" charset="0"/>
            </a:endParaRPr>
          </a:p>
          <a:p>
            <a:pPr algn="l"/>
            <a:r>
              <a:rPr lang="es-ES" sz="1400" dirty="0">
                <a:solidFill>
                  <a:srgbClr val="646464"/>
                </a:solidFill>
                <a:latin typeface="Consolas" panose="020B0609020204030204" pitchFamily="49" charset="0"/>
              </a:rPr>
              <a:t>@Override</a:t>
            </a:r>
          </a:p>
          <a:p>
            <a:pPr algn="l"/>
            <a:r>
              <a:rPr lang="es-ES" sz="1400" b="1" dirty="0" err="1">
                <a:solidFill>
                  <a:srgbClr val="7F0055"/>
                </a:solidFill>
                <a:latin typeface="Consolas" panose="020B0609020204030204" pitchFamily="49" charset="0"/>
              </a:rPr>
              <a:t>public</a:t>
            </a:r>
            <a:r>
              <a:rPr lang="es-ES" sz="1400" b="1" dirty="0">
                <a:solidFill>
                  <a:srgbClr val="000000"/>
                </a:solidFill>
                <a:latin typeface="Consolas" panose="020B0609020204030204" pitchFamily="49" charset="0"/>
              </a:rPr>
              <a:t> </a:t>
            </a:r>
            <a:r>
              <a:rPr lang="es-ES" sz="1400" b="1" dirty="0" err="1">
                <a:solidFill>
                  <a:srgbClr val="7F0055"/>
                </a:solidFill>
                <a:latin typeface="Consolas" panose="020B0609020204030204" pitchFamily="49" charset="0"/>
              </a:rPr>
              <a:t>void</a:t>
            </a:r>
            <a:r>
              <a:rPr lang="es-ES" sz="1400" b="1" dirty="0">
                <a:solidFill>
                  <a:srgbClr val="000000"/>
                </a:solidFill>
                <a:latin typeface="Consolas" panose="020B0609020204030204" pitchFamily="49" charset="0"/>
              </a:rPr>
              <a:t> run() {</a:t>
            </a:r>
          </a:p>
          <a:p>
            <a:pPr algn="l"/>
            <a:r>
              <a:rPr lang="es-ES" sz="1400" dirty="0">
                <a:solidFill>
                  <a:srgbClr val="000000"/>
                </a:solidFill>
                <a:latin typeface="Consolas" panose="020B0609020204030204" pitchFamily="49" charset="0"/>
              </a:rPr>
              <a:t>	</a:t>
            </a:r>
            <a:r>
              <a:rPr lang="es-ES" sz="1400" dirty="0" err="1">
                <a:solidFill>
                  <a:srgbClr val="000000"/>
                </a:solidFill>
                <a:latin typeface="Consolas" panose="020B0609020204030204" pitchFamily="49" charset="0"/>
              </a:rPr>
              <a:t>System.</a:t>
            </a:r>
            <a:r>
              <a:rPr lang="es-ES" sz="1400" b="1" i="1" dirty="0" err="1">
                <a:solidFill>
                  <a:srgbClr val="0000C0"/>
                </a:solidFill>
                <a:latin typeface="Consolas" panose="020B0609020204030204" pitchFamily="49" charset="0"/>
              </a:rPr>
              <a:t>out</a:t>
            </a:r>
            <a:r>
              <a:rPr lang="es-ES" sz="1400" b="1" i="1" dirty="0" err="1">
                <a:solidFill>
                  <a:srgbClr val="000000"/>
                </a:solidFill>
                <a:latin typeface="Consolas" panose="020B0609020204030204" pitchFamily="49" charset="0"/>
              </a:rPr>
              <a:t>.println</a:t>
            </a:r>
            <a:r>
              <a:rPr lang="es-ES" sz="1400" b="1" i="1" dirty="0">
                <a:solidFill>
                  <a:srgbClr val="000000"/>
                </a:solidFill>
                <a:latin typeface="Consolas" panose="020B0609020204030204" pitchFamily="49" charset="0"/>
              </a:rPr>
              <a:t>(</a:t>
            </a:r>
            <a:r>
              <a:rPr lang="es-ES" sz="1400" b="1" i="1" dirty="0">
                <a:solidFill>
                  <a:srgbClr val="2A00FF"/>
                </a:solidFill>
                <a:latin typeface="Consolas" panose="020B0609020204030204" pitchFamily="49" charset="0"/>
              </a:rPr>
              <a:t>"Hola, soy el hilo creado"</a:t>
            </a:r>
            <a:r>
              <a:rPr lang="es-ES" sz="1400" b="1" i="1" dirty="0">
                <a:solidFill>
                  <a:srgbClr val="000000"/>
                </a:solidFill>
                <a:latin typeface="Consolas" panose="020B0609020204030204" pitchFamily="49" charset="0"/>
              </a:rPr>
              <a:t>);</a:t>
            </a:r>
          </a:p>
          <a:p>
            <a:pPr algn="l"/>
            <a:r>
              <a:rPr lang="es-ES" sz="1400" dirty="0">
                <a:solidFill>
                  <a:srgbClr val="000000"/>
                </a:solidFill>
                <a:latin typeface="Consolas" panose="020B0609020204030204" pitchFamily="49" charset="0"/>
              </a:rPr>
              <a:t>	}</a:t>
            </a:r>
          </a:p>
          <a:p>
            <a:pPr algn="l"/>
            <a:r>
              <a:rPr lang="es-ES" sz="1400" dirty="0">
                <a:solidFill>
                  <a:srgbClr val="000000"/>
                </a:solidFill>
                <a:latin typeface="Consolas" panose="020B0609020204030204" pitchFamily="49" charset="0"/>
              </a:rPr>
              <a:t>}</a:t>
            </a:r>
          </a:p>
          <a:p>
            <a:endParaRPr lang="es-ES" dirty="0"/>
          </a:p>
        </p:txBody>
      </p:sp>
      <p:sp>
        <p:nvSpPr>
          <p:cNvPr id="11" name="CuadroTexto 10">
            <a:extLst>
              <a:ext uri="{FF2B5EF4-FFF2-40B4-BE49-F238E27FC236}">
                <a16:creationId xmlns:a16="http://schemas.microsoft.com/office/drawing/2014/main" id="{C4CD33AF-37E5-4B5A-9715-E9A3CE984F2E}"/>
              </a:ext>
            </a:extLst>
          </p:cNvPr>
          <p:cNvSpPr txBox="1"/>
          <p:nvPr/>
        </p:nvSpPr>
        <p:spPr>
          <a:xfrm>
            <a:off x="6521949" y="3823094"/>
            <a:ext cx="5474014" cy="2677656"/>
          </a:xfrm>
          <a:prstGeom prst="rect">
            <a:avLst/>
          </a:prstGeom>
          <a:noFill/>
        </p:spPr>
        <p:txBody>
          <a:bodyPr wrap="square" rtlCol="0">
            <a:spAutoFit/>
          </a:bodyPr>
          <a:lstStyle/>
          <a:p>
            <a:pPr algn="l"/>
            <a:r>
              <a:rPr lang="es-ES" sz="1400" b="1" dirty="0" err="1">
                <a:solidFill>
                  <a:srgbClr val="7F0055"/>
                </a:solidFill>
                <a:latin typeface="Consolas" panose="020B0609020204030204" pitchFamily="49" charset="0"/>
              </a:rPr>
              <a:t>package</a:t>
            </a:r>
            <a:r>
              <a:rPr lang="es-ES" sz="1400" b="1" dirty="0">
                <a:solidFill>
                  <a:srgbClr val="000000"/>
                </a:solidFill>
                <a:latin typeface="Consolas" panose="020B0609020204030204" pitchFamily="49" charset="0"/>
              </a:rPr>
              <a:t> ejemplos;</a:t>
            </a:r>
          </a:p>
          <a:p>
            <a:pPr algn="l"/>
            <a:r>
              <a:rPr lang="es-ES" sz="1400" b="1" dirty="0" err="1">
                <a:solidFill>
                  <a:srgbClr val="7F0055"/>
                </a:solidFill>
                <a:latin typeface="Consolas" panose="020B0609020204030204" pitchFamily="49" charset="0"/>
              </a:rPr>
              <a:t>public</a:t>
            </a:r>
            <a:r>
              <a:rPr lang="es-ES" sz="1400" b="1" dirty="0">
                <a:solidFill>
                  <a:srgbClr val="000000"/>
                </a:solidFill>
                <a:latin typeface="Consolas" panose="020B0609020204030204" pitchFamily="49" charset="0"/>
              </a:rPr>
              <a:t> </a:t>
            </a:r>
            <a:r>
              <a:rPr lang="es-ES" sz="1400" b="1" dirty="0" err="1">
                <a:solidFill>
                  <a:srgbClr val="7F0055"/>
                </a:solidFill>
                <a:latin typeface="Consolas" panose="020B0609020204030204" pitchFamily="49" charset="0"/>
              </a:rPr>
              <a:t>class</a:t>
            </a:r>
            <a:r>
              <a:rPr lang="es-ES" sz="1400" b="1" dirty="0">
                <a:solidFill>
                  <a:srgbClr val="000000"/>
                </a:solidFill>
                <a:latin typeface="Consolas" panose="020B0609020204030204" pitchFamily="49" charset="0"/>
              </a:rPr>
              <a:t> </a:t>
            </a:r>
            <a:r>
              <a:rPr lang="es-ES" sz="1400" b="1" dirty="0" err="1">
                <a:solidFill>
                  <a:srgbClr val="000000"/>
                </a:solidFill>
                <a:latin typeface="Consolas" panose="020B0609020204030204" pitchFamily="49" charset="0"/>
              </a:rPr>
              <a:t>LanzarThreads</a:t>
            </a:r>
            <a:r>
              <a:rPr lang="es-ES" sz="1400" b="1" dirty="0">
                <a:solidFill>
                  <a:srgbClr val="000000"/>
                </a:solidFill>
                <a:latin typeface="Consolas" panose="020B0609020204030204" pitchFamily="49" charset="0"/>
              </a:rPr>
              <a:t> {</a:t>
            </a:r>
          </a:p>
          <a:p>
            <a:pPr algn="l"/>
            <a:r>
              <a:rPr lang="en-US" sz="1400" b="1" dirty="0">
                <a:solidFill>
                  <a:srgbClr val="7F0055"/>
                </a:solidFill>
                <a:latin typeface="Consolas" panose="020B0609020204030204" pitchFamily="49" charset="0"/>
              </a:rPr>
              <a:t>public</a:t>
            </a:r>
            <a:r>
              <a:rPr lang="en-US" sz="1400" b="1" dirty="0">
                <a:solidFill>
                  <a:srgbClr val="000000"/>
                </a:solidFill>
                <a:latin typeface="Consolas" panose="020B0609020204030204" pitchFamily="49" charset="0"/>
              </a:rPr>
              <a:t> </a:t>
            </a:r>
            <a:r>
              <a:rPr lang="en-US" sz="1400" b="1" dirty="0">
                <a:solidFill>
                  <a:srgbClr val="7F0055"/>
                </a:solidFill>
                <a:latin typeface="Consolas" panose="020B0609020204030204" pitchFamily="49" charset="0"/>
              </a:rPr>
              <a:t>static</a:t>
            </a:r>
            <a:r>
              <a:rPr lang="en-US" sz="1400" b="1" dirty="0">
                <a:solidFill>
                  <a:srgbClr val="000000"/>
                </a:solidFill>
                <a:latin typeface="Consolas" panose="020B0609020204030204" pitchFamily="49" charset="0"/>
              </a:rPr>
              <a:t> </a:t>
            </a:r>
            <a:r>
              <a:rPr lang="en-US" sz="1400" b="1" dirty="0">
                <a:solidFill>
                  <a:srgbClr val="7F0055"/>
                </a:solidFill>
                <a:latin typeface="Consolas" panose="020B0609020204030204" pitchFamily="49" charset="0"/>
              </a:rPr>
              <a:t>void</a:t>
            </a:r>
            <a:r>
              <a:rPr lang="en-US" sz="1400" b="1" dirty="0">
                <a:solidFill>
                  <a:srgbClr val="000000"/>
                </a:solidFill>
                <a:latin typeface="Consolas" panose="020B0609020204030204" pitchFamily="49" charset="0"/>
              </a:rPr>
              <a:t> main(String[] </a:t>
            </a:r>
            <a:r>
              <a:rPr lang="en-US" sz="1400" b="1" dirty="0" err="1">
                <a:solidFill>
                  <a:srgbClr val="6A3E3E"/>
                </a:solidFill>
                <a:latin typeface="Consolas" panose="020B0609020204030204" pitchFamily="49" charset="0"/>
              </a:rPr>
              <a:t>args</a:t>
            </a:r>
            <a:r>
              <a:rPr lang="en-US" sz="1400" b="1" dirty="0">
                <a:solidFill>
                  <a:srgbClr val="000000"/>
                </a:solidFill>
                <a:latin typeface="Consolas" panose="020B0609020204030204" pitchFamily="49" charset="0"/>
              </a:rPr>
              <a:t>) {</a:t>
            </a:r>
          </a:p>
          <a:p>
            <a:pPr algn="l"/>
            <a:endParaRPr lang="es-ES" sz="1400" dirty="0">
              <a:latin typeface="Consolas" panose="020B0609020204030204" pitchFamily="49" charset="0"/>
            </a:endParaRPr>
          </a:p>
          <a:p>
            <a:pPr algn="l"/>
            <a:r>
              <a:rPr lang="es-ES" sz="1400" dirty="0">
                <a:solidFill>
                  <a:srgbClr val="000000"/>
                </a:solidFill>
                <a:latin typeface="Consolas" panose="020B0609020204030204" pitchFamily="49" charset="0"/>
              </a:rPr>
              <a:t>    </a:t>
            </a:r>
            <a:r>
              <a:rPr lang="es-ES" sz="1400" dirty="0" err="1">
                <a:solidFill>
                  <a:srgbClr val="000000"/>
                </a:solidFill>
                <a:latin typeface="Consolas" panose="020B0609020204030204" pitchFamily="49" charset="0"/>
              </a:rPr>
              <a:t>System.</a:t>
            </a:r>
            <a:r>
              <a:rPr lang="es-ES" sz="1400" b="1" i="1" dirty="0" err="1">
                <a:solidFill>
                  <a:srgbClr val="0000C0"/>
                </a:solidFill>
                <a:latin typeface="Consolas" panose="020B0609020204030204" pitchFamily="49" charset="0"/>
              </a:rPr>
              <a:t>out</a:t>
            </a:r>
            <a:r>
              <a:rPr lang="es-ES" sz="1400" b="1" i="1" dirty="0" err="1">
                <a:solidFill>
                  <a:srgbClr val="000000"/>
                </a:solidFill>
                <a:latin typeface="Consolas" panose="020B0609020204030204" pitchFamily="49" charset="0"/>
              </a:rPr>
              <a:t>.println</a:t>
            </a:r>
            <a:r>
              <a:rPr lang="es-ES" sz="1400" b="1" i="1" dirty="0">
                <a:solidFill>
                  <a:srgbClr val="000000"/>
                </a:solidFill>
                <a:latin typeface="Consolas" panose="020B0609020204030204" pitchFamily="49" charset="0"/>
              </a:rPr>
              <a:t>(</a:t>
            </a:r>
            <a:r>
              <a:rPr lang="es-ES" sz="1400" b="1" i="1" dirty="0">
                <a:solidFill>
                  <a:srgbClr val="2A00FF"/>
                </a:solidFill>
                <a:latin typeface="Consolas" panose="020B0609020204030204" pitchFamily="49" charset="0"/>
              </a:rPr>
              <a:t>"Soy el hilo principal"</a:t>
            </a:r>
            <a:r>
              <a:rPr lang="es-ES" sz="1400" b="1" i="1" dirty="0">
                <a:solidFill>
                  <a:srgbClr val="000000"/>
                </a:solidFill>
                <a:latin typeface="Consolas" panose="020B0609020204030204" pitchFamily="49" charset="0"/>
              </a:rPr>
              <a:t>);</a:t>
            </a:r>
          </a:p>
          <a:p>
            <a:pPr algn="l"/>
            <a:endParaRPr lang="es-ES" sz="1400" dirty="0">
              <a:latin typeface="Consolas" panose="020B0609020204030204" pitchFamily="49" charset="0"/>
            </a:endParaRPr>
          </a:p>
          <a:p>
            <a:pPr algn="l"/>
            <a:r>
              <a:rPr lang="es-ES" sz="1400" dirty="0">
                <a:solidFill>
                  <a:srgbClr val="000000"/>
                </a:solidFill>
                <a:latin typeface="Consolas" panose="020B0609020204030204" pitchFamily="49" charset="0"/>
              </a:rPr>
              <a:t>    </a:t>
            </a:r>
            <a:r>
              <a:rPr lang="es-ES" sz="1400" dirty="0" err="1">
                <a:solidFill>
                  <a:srgbClr val="000000"/>
                </a:solidFill>
                <a:latin typeface="Consolas" panose="020B0609020204030204" pitchFamily="49" charset="0"/>
              </a:rPr>
              <a:t>HiloThread</a:t>
            </a:r>
            <a:r>
              <a:rPr lang="es-ES" sz="1400" dirty="0">
                <a:solidFill>
                  <a:srgbClr val="000000"/>
                </a:solidFill>
                <a:latin typeface="Consolas" panose="020B0609020204030204" pitchFamily="49" charset="0"/>
              </a:rPr>
              <a:t> </a:t>
            </a:r>
            <a:r>
              <a:rPr lang="es-ES" sz="1400" dirty="0" err="1">
                <a:solidFill>
                  <a:srgbClr val="6A3E3E"/>
                </a:solidFill>
                <a:latin typeface="Consolas" panose="020B0609020204030204" pitchFamily="49" charset="0"/>
              </a:rPr>
              <a:t>hiloConThread</a:t>
            </a:r>
            <a:r>
              <a:rPr lang="es-ES" sz="1400" dirty="0">
                <a:solidFill>
                  <a:srgbClr val="000000"/>
                </a:solidFill>
                <a:latin typeface="Consolas" panose="020B0609020204030204" pitchFamily="49" charset="0"/>
              </a:rPr>
              <a:t> =</a:t>
            </a:r>
            <a:r>
              <a:rPr lang="es-ES" sz="1400" b="1" dirty="0">
                <a:solidFill>
                  <a:srgbClr val="7F0055"/>
                </a:solidFill>
                <a:latin typeface="Consolas" panose="020B0609020204030204" pitchFamily="49" charset="0"/>
              </a:rPr>
              <a:t>new</a:t>
            </a:r>
            <a:r>
              <a:rPr lang="es-ES" sz="1400" b="1" dirty="0">
                <a:solidFill>
                  <a:srgbClr val="000000"/>
                </a:solidFill>
                <a:latin typeface="Consolas" panose="020B0609020204030204" pitchFamily="49" charset="0"/>
              </a:rPr>
              <a:t> </a:t>
            </a:r>
            <a:r>
              <a:rPr lang="es-ES" sz="1400" b="1" dirty="0" err="1">
                <a:solidFill>
                  <a:srgbClr val="000000"/>
                </a:solidFill>
                <a:latin typeface="Consolas" panose="020B0609020204030204" pitchFamily="49" charset="0"/>
              </a:rPr>
              <a:t>HiloThread</a:t>
            </a:r>
            <a:r>
              <a:rPr lang="es-ES" sz="1400" b="1" dirty="0">
                <a:solidFill>
                  <a:srgbClr val="000000"/>
                </a:solidFill>
                <a:latin typeface="Consolas" panose="020B0609020204030204" pitchFamily="49" charset="0"/>
              </a:rPr>
              <a:t>();</a:t>
            </a:r>
          </a:p>
          <a:p>
            <a:pPr algn="l"/>
            <a:r>
              <a:rPr lang="es-ES" sz="1400" dirty="0">
                <a:solidFill>
                  <a:srgbClr val="6A3E3E"/>
                </a:solidFill>
                <a:latin typeface="Consolas" panose="020B0609020204030204" pitchFamily="49" charset="0"/>
              </a:rPr>
              <a:t>    </a:t>
            </a:r>
            <a:r>
              <a:rPr lang="es-ES" sz="1400" dirty="0" err="1">
                <a:solidFill>
                  <a:srgbClr val="6A3E3E"/>
                </a:solidFill>
                <a:latin typeface="Consolas" panose="020B0609020204030204" pitchFamily="49" charset="0"/>
              </a:rPr>
              <a:t>hiloConThread</a:t>
            </a:r>
            <a:r>
              <a:rPr lang="es-ES" sz="1400" dirty="0" err="1">
                <a:solidFill>
                  <a:srgbClr val="000000"/>
                </a:solidFill>
                <a:latin typeface="Consolas" panose="020B0609020204030204" pitchFamily="49" charset="0"/>
              </a:rPr>
              <a:t>.start</a:t>
            </a:r>
            <a:r>
              <a:rPr lang="es-ES" sz="1400" dirty="0">
                <a:solidFill>
                  <a:srgbClr val="000000"/>
                </a:solidFill>
                <a:latin typeface="Consolas" panose="020B0609020204030204" pitchFamily="49" charset="0"/>
              </a:rPr>
              <a:t>();</a:t>
            </a:r>
          </a:p>
          <a:p>
            <a:pPr algn="l"/>
            <a:endParaRPr lang="es-ES" sz="1400" dirty="0">
              <a:latin typeface="Consolas" panose="020B0609020204030204" pitchFamily="49" charset="0"/>
            </a:endParaRPr>
          </a:p>
          <a:p>
            <a:pPr algn="l"/>
            <a:r>
              <a:rPr lang="es-ES" sz="1400" dirty="0">
                <a:solidFill>
                  <a:srgbClr val="000000"/>
                </a:solidFill>
                <a:latin typeface="Consolas" panose="020B0609020204030204" pitchFamily="49" charset="0"/>
              </a:rPr>
              <a:t>    </a:t>
            </a:r>
            <a:r>
              <a:rPr lang="es-ES" sz="1400" dirty="0" err="1">
                <a:solidFill>
                  <a:srgbClr val="000000"/>
                </a:solidFill>
                <a:latin typeface="Consolas" panose="020B0609020204030204" pitchFamily="49" charset="0"/>
              </a:rPr>
              <a:t>System.</a:t>
            </a:r>
            <a:r>
              <a:rPr lang="es-ES" sz="1400" b="1" i="1" dirty="0" err="1">
                <a:solidFill>
                  <a:srgbClr val="0000C0"/>
                </a:solidFill>
                <a:latin typeface="Consolas" panose="020B0609020204030204" pitchFamily="49" charset="0"/>
              </a:rPr>
              <a:t>out</a:t>
            </a:r>
            <a:r>
              <a:rPr lang="es-ES" sz="1400" b="1" i="1" dirty="0" err="1">
                <a:solidFill>
                  <a:srgbClr val="000000"/>
                </a:solidFill>
                <a:latin typeface="Consolas" panose="020B0609020204030204" pitchFamily="49" charset="0"/>
              </a:rPr>
              <a:t>.println</a:t>
            </a:r>
            <a:r>
              <a:rPr lang="es-ES" sz="1400" b="1" i="1" dirty="0">
                <a:solidFill>
                  <a:srgbClr val="000000"/>
                </a:solidFill>
                <a:latin typeface="Consolas" panose="020B0609020204030204" pitchFamily="49" charset="0"/>
              </a:rPr>
              <a:t>(</a:t>
            </a:r>
            <a:r>
              <a:rPr lang="es-ES" sz="1400" b="1" i="1" dirty="0">
                <a:solidFill>
                  <a:srgbClr val="2A00FF"/>
                </a:solidFill>
                <a:latin typeface="Consolas" panose="020B0609020204030204" pitchFamily="49" charset="0"/>
              </a:rPr>
              <a:t>"Proceso terminado"</a:t>
            </a:r>
            <a:r>
              <a:rPr lang="es-ES" sz="1400" b="1" i="1" dirty="0">
                <a:solidFill>
                  <a:srgbClr val="000000"/>
                </a:solidFill>
                <a:latin typeface="Consolas" panose="020B0609020204030204" pitchFamily="49" charset="0"/>
              </a:rPr>
              <a:t>);</a:t>
            </a:r>
          </a:p>
          <a:p>
            <a:pPr algn="l"/>
            <a:r>
              <a:rPr lang="es-ES" sz="1400" dirty="0">
                <a:solidFill>
                  <a:srgbClr val="000000"/>
                </a:solidFill>
                <a:latin typeface="Consolas" panose="020B0609020204030204" pitchFamily="49" charset="0"/>
              </a:rPr>
              <a:t>   }</a:t>
            </a:r>
          </a:p>
          <a:p>
            <a:pPr algn="l"/>
            <a:r>
              <a:rPr lang="es-ES" sz="1400" dirty="0">
                <a:solidFill>
                  <a:srgbClr val="000000"/>
                </a:solidFill>
                <a:latin typeface="Consolas" panose="020B0609020204030204" pitchFamily="49" charset="0"/>
              </a:rPr>
              <a:t>}</a:t>
            </a:r>
          </a:p>
        </p:txBody>
      </p:sp>
    </p:spTree>
    <p:extLst>
      <p:ext uri="{BB962C8B-B14F-4D97-AF65-F5344CB8AC3E}">
        <p14:creationId xmlns:p14="http://schemas.microsoft.com/office/powerpoint/2010/main" val="25837834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88EEA8BF-AC34-4D10-BDA3-3A3007E142A3}"/>
              </a:ext>
            </a:extLst>
          </p:cNvPr>
          <p:cNvSpPr>
            <a:spLocks noGrp="1"/>
          </p:cNvSpPr>
          <p:nvPr>
            <p:ph type="title"/>
          </p:nvPr>
        </p:nvSpPr>
        <p:spPr>
          <a:xfrm>
            <a:off x="643467" y="321734"/>
            <a:ext cx="10905066" cy="594173"/>
          </a:xfrm>
        </p:spPr>
        <p:txBody>
          <a:bodyPr>
            <a:normAutofit/>
          </a:bodyPr>
          <a:lstStyle/>
          <a:p>
            <a:r>
              <a:rPr lang="es-ES" sz="3600" b="1" u="sng" dirty="0"/>
              <a:t>Formas de crear y arrancar hilos</a:t>
            </a:r>
          </a:p>
        </p:txBody>
      </p:sp>
      <p:sp>
        <p:nvSpPr>
          <p:cNvPr id="3" name="Marcador de contenido 2">
            <a:extLst>
              <a:ext uri="{FF2B5EF4-FFF2-40B4-BE49-F238E27FC236}">
                <a16:creationId xmlns:a16="http://schemas.microsoft.com/office/drawing/2014/main" id="{B3FA1E7A-1131-493D-8FB5-8EC609B3755A}"/>
              </a:ext>
            </a:extLst>
          </p:cNvPr>
          <p:cNvSpPr>
            <a:spLocks noGrp="1"/>
          </p:cNvSpPr>
          <p:nvPr>
            <p:ph idx="1"/>
          </p:nvPr>
        </p:nvSpPr>
        <p:spPr>
          <a:xfrm>
            <a:off x="643467" y="1062322"/>
            <a:ext cx="10905066" cy="5252531"/>
          </a:xfrm>
        </p:spPr>
        <p:txBody>
          <a:bodyPr>
            <a:normAutofit/>
          </a:bodyPr>
          <a:lstStyle/>
          <a:p>
            <a:r>
              <a:rPr lang="es-ES" sz="3200" dirty="0"/>
              <a:t>De las dos alternativas, ¿cuál utilizar? Depende de la necesidad</a:t>
            </a:r>
          </a:p>
          <a:p>
            <a:pPr lvl="1"/>
            <a:r>
              <a:rPr lang="es-ES" sz="2800" dirty="0" err="1"/>
              <a:t>Runnable</a:t>
            </a:r>
            <a:r>
              <a:rPr lang="es-ES" sz="2800" dirty="0"/>
              <a:t>: </a:t>
            </a:r>
          </a:p>
          <a:p>
            <a:pPr lvl="2"/>
            <a:r>
              <a:rPr lang="es-ES" sz="2400" dirty="0"/>
              <a:t>Al ser una interfaz, podemos incluirla en cualquier clase (tenga padres o no).</a:t>
            </a:r>
          </a:p>
          <a:p>
            <a:pPr lvl="2"/>
            <a:r>
              <a:rPr lang="es-ES" sz="2400" dirty="0"/>
              <a:t>Sólo nos pide implementar dentro del método </a:t>
            </a:r>
            <a:r>
              <a:rPr lang="es-ES" sz="2400" i="1" dirty="0"/>
              <a:t>run </a:t>
            </a:r>
            <a:r>
              <a:rPr lang="es-ES" sz="2400" dirty="0"/>
              <a:t>lo que queramos correr como hilo.</a:t>
            </a:r>
          </a:p>
          <a:p>
            <a:pPr lvl="1"/>
            <a:r>
              <a:rPr lang="es-ES" sz="2800" dirty="0" err="1"/>
              <a:t>Thread</a:t>
            </a:r>
            <a:r>
              <a:rPr lang="es-ES" sz="2800" dirty="0"/>
              <a:t>:</a:t>
            </a:r>
          </a:p>
          <a:p>
            <a:pPr lvl="2"/>
            <a:r>
              <a:rPr lang="es-ES" sz="2400" dirty="0"/>
              <a:t>Al ser una clase padre, creamos la subclase pensando que es un hilo. </a:t>
            </a:r>
          </a:p>
          <a:p>
            <a:pPr lvl="2"/>
            <a:r>
              <a:rPr lang="es-ES" sz="2400" dirty="0"/>
              <a:t>Más fácil de utilizar ya que hereda otros métodos de </a:t>
            </a:r>
            <a:r>
              <a:rPr lang="es-ES" sz="2400" dirty="0" err="1"/>
              <a:t>Thread</a:t>
            </a:r>
            <a:endParaRPr lang="es-ES" sz="2400" dirty="0"/>
          </a:p>
          <a:p>
            <a:pPr lvl="2"/>
            <a:r>
              <a:rPr lang="es-ES" sz="2400" dirty="0"/>
              <a:t>Nos limita porque ya no podemos heredar de otra cosa</a:t>
            </a:r>
          </a:p>
        </p:txBody>
      </p:sp>
      <p:sp>
        <p:nvSpPr>
          <p:cNvPr id="10"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4191817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88EEA8BF-AC34-4D10-BDA3-3A3007E142A3}"/>
              </a:ext>
            </a:extLst>
          </p:cNvPr>
          <p:cNvSpPr>
            <a:spLocks noGrp="1"/>
          </p:cNvSpPr>
          <p:nvPr>
            <p:ph type="title"/>
          </p:nvPr>
        </p:nvSpPr>
        <p:spPr>
          <a:xfrm>
            <a:off x="643467" y="321734"/>
            <a:ext cx="10905066" cy="594173"/>
          </a:xfrm>
        </p:spPr>
        <p:txBody>
          <a:bodyPr>
            <a:normAutofit/>
          </a:bodyPr>
          <a:lstStyle/>
          <a:p>
            <a:r>
              <a:rPr lang="es-ES" sz="3600" b="1" u="sng" dirty="0"/>
              <a:t>Espera de hilos</a:t>
            </a:r>
          </a:p>
        </p:txBody>
      </p:sp>
      <p:sp>
        <p:nvSpPr>
          <p:cNvPr id="3" name="Marcador de contenido 2">
            <a:extLst>
              <a:ext uri="{FF2B5EF4-FFF2-40B4-BE49-F238E27FC236}">
                <a16:creationId xmlns:a16="http://schemas.microsoft.com/office/drawing/2014/main" id="{B3FA1E7A-1131-493D-8FB5-8EC609B3755A}"/>
              </a:ext>
            </a:extLst>
          </p:cNvPr>
          <p:cNvSpPr>
            <a:spLocks noGrp="1"/>
          </p:cNvSpPr>
          <p:nvPr>
            <p:ph idx="1"/>
          </p:nvPr>
        </p:nvSpPr>
        <p:spPr>
          <a:xfrm>
            <a:off x="643467" y="1062322"/>
            <a:ext cx="10905066" cy="5252531"/>
          </a:xfrm>
        </p:spPr>
        <p:txBody>
          <a:bodyPr>
            <a:normAutofit/>
          </a:bodyPr>
          <a:lstStyle/>
          <a:p>
            <a:r>
              <a:rPr lang="es-ES" sz="3200" dirty="0"/>
              <a:t>Operaciones:</a:t>
            </a:r>
          </a:p>
          <a:p>
            <a:pPr lvl="1"/>
            <a:r>
              <a:rPr lang="es-ES" sz="2800" b="1" i="1" dirty="0" err="1"/>
              <a:t>join</a:t>
            </a:r>
            <a:r>
              <a:rPr lang="es-ES" sz="2800" b="1" i="1" dirty="0"/>
              <a:t>()</a:t>
            </a:r>
            <a:r>
              <a:rPr lang="es-ES" sz="2800" dirty="0"/>
              <a:t>: La ejecución del hilo principal puede suspenderse hasta que termine el hilo invocado. Podemos esperar también durante X milisegundos (</a:t>
            </a:r>
            <a:r>
              <a:rPr lang="es-ES" sz="2800" i="1" dirty="0" err="1"/>
              <a:t>join</a:t>
            </a:r>
            <a:r>
              <a:rPr lang="es-ES" sz="2800" i="1" dirty="0"/>
              <a:t>(</a:t>
            </a:r>
            <a:r>
              <a:rPr lang="es-ES" sz="2800" i="1" dirty="0" err="1"/>
              <a:t>long</a:t>
            </a:r>
            <a:r>
              <a:rPr lang="es-ES" sz="2800" i="1" dirty="0"/>
              <a:t> </a:t>
            </a:r>
            <a:r>
              <a:rPr lang="es-ES" sz="2800" i="1" dirty="0" err="1"/>
              <a:t>millis</a:t>
            </a:r>
            <a:r>
              <a:rPr lang="es-ES" sz="2800" i="1" dirty="0"/>
              <a:t>)</a:t>
            </a:r>
            <a:r>
              <a:rPr lang="es-ES" sz="2800" dirty="0"/>
              <a:t>).</a:t>
            </a:r>
          </a:p>
          <a:p>
            <a:pPr lvl="1"/>
            <a:r>
              <a:rPr lang="es-ES" sz="2800" b="1" i="1" dirty="0" err="1"/>
              <a:t>sleep</a:t>
            </a:r>
            <a:r>
              <a:rPr lang="es-ES" sz="2800" b="1" i="1" dirty="0"/>
              <a:t>(</a:t>
            </a:r>
            <a:r>
              <a:rPr lang="es-ES" sz="2800" b="1" i="1" dirty="0" err="1"/>
              <a:t>long</a:t>
            </a:r>
            <a:r>
              <a:rPr lang="es-ES" sz="2800" b="1" i="1" dirty="0"/>
              <a:t> </a:t>
            </a:r>
            <a:r>
              <a:rPr lang="es-ES" sz="2800" b="1" i="1" dirty="0" err="1"/>
              <a:t>millis</a:t>
            </a:r>
            <a:r>
              <a:rPr lang="es-ES" sz="2800" b="1" i="1" dirty="0"/>
              <a:t>)</a:t>
            </a:r>
            <a:r>
              <a:rPr lang="es-ES" sz="2800" dirty="0"/>
              <a:t>: duerme un hilo durante un tiempo concreto.	</a:t>
            </a:r>
          </a:p>
          <a:p>
            <a:endParaRPr lang="es-ES" sz="3200" dirty="0"/>
          </a:p>
          <a:p>
            <a:pPr lvl="1"/>
            <a:endParaRPr lang="es-ES" sz="2800" dirty="0"/>
          </a:p>
          <a:p>
            <a:pPr lvl="1"/>
            <a:endParaRPr lang="es-ES" sz="2000" dirty="0"/>
          </a:p>
        </p:txBody>
      </p:sp>
      <p:sp>
        <p:nvSpPr>
          <p:cNvPr id="10"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297342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88EEA8BF-AC34-4D10-BDA3-3A3007E142A3}"/>
              </a:ext>
            </a:extLst>
          </p:cNvPr>
          <p:cNvSpPr>
            <a:spLocks noGrp="1"/>
          </p:cNvSpPr>
          <p:nvPr>
            <p:ph type="title"/>
          </p:nvPr>
        </p:nvSpPr>
        <p:spPr>
          <a:xfrm>
            <a:off x="643467" y="321734"/>
            <a:ext cx="10905066" cy="594173"/>
          </a:xfrm>
        </p:spPr>
        <p:txBody>
          <a:bodyPr>
            <a:normAutofit/>
          </a:bodyPr>
          <a:lstStyle/>
          <a:p>
            <a:r>
              <a:rPr lang="es-ES" sz="3600" b="1" u="sng" dirty="0"/>
              <a:t>Ejercicio: carreras</a:t>
            </a:r>
          </a:p>
        </p:txBody>
      </p:sp>
      <p:sp>
        <p:nvSpPr>
          <p:cNvPr id="3" name="Marcador de contenido 2">
            <a:extLst>
              <a:ext uri="{FF2B5EF4-FFF2-40B4-BE49-F238E27FC236}">
                <a16:creationId xmlns:a16="http://schemas.microsoft.com/office/drawing/2014/main" id="{B3FA1E7A-1131-493D-8FB5-8EC609B3755A}"/>
              </a:ext>
            </a:extLst>
          </p:cNvPr>
          <p:cNvSpPr>
            <a:spLocks noGrp="1"/>
          </p:cNvSpPr>
          <p:nvPr>
            <p:ph idx="1"/>
          </p:nvPr>
        </p:nvSpPr>
        <p:spPr>
          <a:xfrm>
            <a:off x="643467" y="1062322"/>
            <a:ext cx="10905066" cy="5795678"/>
          </a:xfrm>
        </p:spPr>
        <p:txBody>
          <a:bodyPr>
            <a:normAutofit fontScale="77500" lnSpcReduction="20000"/>
          </a:bodyPr>
          <a:lstStyle/>
          <a:p>
            <a:r>
              <a:rPr lang="es-ES" sz="3200" dirty="0"/>
              <a:t>Vamos a hacer carreras usando hilos</a:t>
            </a:r>
          </a:p>
          <a:p>
            <a:r>
              <a:rPr lang="es-ES" sz="3200" dirty="0"/>
              <a:t>Creamos clase </a:t>
            </a:r>
            <a:r>
              <a:rPr lang="es-ES" sz="3200" i="1" dirty="0"/>
              <a:t>Corredor</a:t>
            </a:r>
            <a:r>
              <a:rPr lang="es-ES" sz="3200" dirty="0"/>
              <a:t>, que es un </a:t>
            </a:r>
            <a:r>
              <a:rPr lang="es-ES" sz="3200" i="1" dirty="0" err="1"/>
              <a:t>Thread</a:t>
            </a:r>
            <a:r>
              <a:rPr lang="es-ES" sz="3200" dirty="0"/>
              <a:t>.</a:t>
            </a:r>
          </a:p>
          <a:p>
            <a:pPr lvl="1"/>
            <a:r>
              <a:rPr lang="es-ES" sz="2800" dirty="0"/>
              <a:t>En su constructor recibirá un nombre</a:t>
            </a:r>
          </a:p>
          <a:p>
            <a:pPr lvl="1"/>
            <a:r>
              <a:rPr lang="es-ES" sz="2800" dirty="0"/>
              <a:t>En su método run, haremos que haga 4 vueltas  a un </a:t>
            </a:r>
            <a:r>
              <a:rPr lang="es-ES" sz="2800" i="1" dirty="0" err="1"/>
              <a:t>for</a:t>
            </a:r>
            <a:r>
              <a:rPr lang="es-ES" sz="2800" dirty="0"/>
              <a:t>. En el </a:t>
            </a:r>
            <a:r>
              <a:rPr lang="es-ES" sz="2800" i="1" dirty="0" err="1"/>
              <a:t>for</a:t>
            </a:r>
            <a:r>
              <a:rPr lang="es-ES" sz="2800" dirty="0"/>
              <a:t>:</a:t>
            </a:r>
          </a:p>
          <a:p>
            <a:pPr lvl="2"/>
            <a:r>
              <a:rPr lang="es-ES" sz="2400" dirty="0"/>
              <a:t>Calcularemos un número aleatorio de milisegundos y lo sumaremos a un mínimo por defecto (3000)</a:t>
            </a:r>
          </a:p>
          <a:p>
            <a:pPr lvl="2"/>
            <a:r>
              <a:rPr lang="es-ES" sz="2400" dirty="0"/>
              <a:t>Ese número aleatorio lo usaremos para dormir (</a:t>
            </a:r>
            <a:r>
              <a:rPr lang="es-ES" sz="2400" i="1" dirty="0" err="1"/>
              <a:t>Thread.sleep</a:t>
            </a:r>
            <a:r>
              <a:rPr lang="es-ES" sz="2400" dirty="0"/>
              <a:t>)</a:t>
            </a:r>
          </a:p>
          <a:p>
            <a:pPr lvl="2"/>
            <a:r>
              <a:rPr lang="es-ES" sz="2400" dirty="0"/>
              <a:t>Cuando termine de dormir, escribiremos por pantalla que ha terminado la vuelta X en Y milisegundos</a:t>
            </a:r>
          </a:p>
          <a:p>
            <a:pPr lvl="1"/>
            <a:r>
              <a:rPr lang="es-ES" sz="2800" dirty="0"/>
              <a:t>Al terminar el </a:t>
            </a:r>
            <a:r>
              <a:rPr lang="es-ES" sz="2800" i="1" dirty="0" err="1"/>
              <a:t>for</a:t>
            </a:r>
            <a:r>
              <a:rPr lang="es-ES" sz="2800" dirty="0"/>
              <a:t>, pondremos el tiempo total del corredor (ir sumando cada tiempo de vuelta)</a:t>
            </a:r>
          </a:p>
          <a:p>
            <a:pPr lvl="1"/>
            <a:r>
              <a:rPr lang="es-ES" sz="2800" dirty="0"/>
              <a:t>Ese tiempo total debe tener su método </a:t>
            </a:r>
            <a:r>
              <a:rPr lang="es-ES" sz="2800" i="1" dirty="0" err="1"/>
              <a:t>get</a:t>
            </a:r>
            <a:r>
              <a:rPr lang="es-ES" sz="2800" dirty="0"/>
              <a:t>.</a:t>
            </a:r>
          </a:p>
          <a:p>
            <a:r>
              <a:rPr lang="es-ES" sz="3200" dirty="0"/>
              <a:t>Crearemos otra clase </a:t>
            </a:r>
            <a:r>
              <a:rPr lang="es-ES" sz="3200" i="1" dirty="0" err="1"/>
              <a:t>CoordinadorCarrera</a:t>
            </a:r>
            <a:r>
              <a:rPr lang="es-ES" sz="3200" dirty="0"/>
              <a:t>, que:</a:t>
            </a:r>
          </a:p>
          <a:p>
            <a:pPr lvl="1"/>
            <a:r>
              <a:rPr lang="es-ES" sz="2800" dirty="0"/>
              <a:t>Pedirá el nombre de 3 corredores, los creará (</a:t>
            </a:r>
            <a:r>
              <a:rPr lang="es-ES" sz="2800" i="1" dirty="0"/>
              <a:t>new Corredor(nombre)</a:t>
            </a:r>
            <a:r>
              <a:rPr lang="es-ES" sz="2800" dirty="0"/>
              <a:t>)</a:t>
            </a:r>
          </a:p>
          <a:p>
            <a:pPr lvl="1"/>
            <a:r>
              <a:rPr lang="es-ES" sz="2800" dirty="0"/>
              <a:t>Luego iterará toda la lista para ir llamando a su método </a:t>
            </a:r>
            <a:r>
              <a:rPr lang="es-ES" sz="2800" i="1" dirty="0"/>
              <a:t>.</a:t>
            </a:r>
            <a:r>
              <a:rPr lang="es-ES" sz="2800" i="1" dirty="0" err="1"/>
              <a:t>start</a:t>
            </a:r>
            <a:r>
              <a:rPr lang="es-ES" sz="2800" i="1" dirty="0"/>
              <a:t>()</a:t>
            </a:r>
            <a:r>
              <a:rPr lang="es-ES" sz="2800" dirty="0"/>
              <a:t>.</a:t>
            </a:r>
          </a:p>
          <a:p>
            <a:pPr lvl="1"/>
            <a:r>
              <a:rPr lang="es-ES" sz="2800" dirty="0"/>
              <a:t>Después iterará la lista para hacer </a:t>
            </a:r>
            <a:r>
              <a:rPr lang="es-ES" sz="2800" i="1" dirty="0" err="1"/>
              <a:t>join</a:t>
            </a:r>
            <a:r>
              <a:rPr lang="es-ES" sz="2800" i="1" dirty="0"/>
              <a:t>()</a:t>
            </a:r>
            <a:r>
              <a:rPr lang="es-ES" sz="2800" dirty="0"/>
              <a:t> y esperarlos.</a:t>
            </a:r>
          </a:p>
          <a:p>
            <a:pPr lvl="1"/>
            <a:r>
              <a:rPr lang="es-ES" sz="2800" dirty="0"/>
              <a:t>Finalmente anunciaremos el fin de la carrera</a:t>
            </a:r>
          </a:p>
          <a:p>
            <a:r>
              <a:rPr lang="es-ES" sz="3200" dirty="0"/>
              <a:t>Cuando hayamos hecho lo anterior, sacar quién es el ganador (el que tenga menos tiempo total).</a:t>
            </a:r>
          </a:p>
          <a:p>
            <a:pPr lvl="2"/>
            <a:endParaRPr lang="es-ES" sz="2400" dirty="0"/>
          </a:p>
          <a:p>
            <a:pPr lvl="1"/>
            <a:endParaRPr lang="es-ES" sz="2000" dirty="0"/>
          </a:p>
        </p:txBody>
      </p:sp>
      <p:sp>
        <p:nvSpPr>
          <p:cNvPr id="10"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2154838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88EEA8BF-AC34-4D10-BDA3-3A3007E142A3}"/>
              </a:ext>
            </a:extLst>
          </p:cNvPr>
          <p:cNvSpPr>
            <a:spLocks noGrp="1"/>
          </p:cNvSpPr>
          <p:nvPr>
            <p:ph type="title"/>
          </p:nvPr>
        </p:nvSpPr>
        <p:spPr>
          <a:xfrm>
            <a:off x="643467" y="321734"/>
            <a:ext cx="10905066" cy="594173"/>
          </a:xfrm>
        </p:spPr>
        <p:txBody>
          <a:bodyPr>
            <a:normAutofit/>
          </a:bodyPr>
          <a:lstStyle/>
          <a:p>
            <a:r>
              <a:rPr lang="es-ES" sz="3600" b="1" u="sng" dirty="0"/>
              <a:t>Estados de un hilo</a:t>
            </a:r>
          </a:p>
        </p:txBody>
      </p:sp>
      <p:sp>
        <p:nvSpPr>
          <p:cNvPr id="3" name="Marcador de contenido 2">
            <a:extLst>
              <a:ext uri="{FF2B5EF4-FFF2-40B4-BE49-F238E27FC236}">
                <a16:creationId xmlns:a16="http://schemas.microsoft.com/office/drawing/2014/main" id="{B3FA1E7A-1131-493D-8FB5-8EC609B3755A}"/>
              </a:ext>
            </a:extLst>
          </p:cNvPr>
          <p:cNvSpPr>
            <a:spLocks noGrp="1"/>
          </p:cNvSpPr>
          <p:nvPr>
            <p:ph idx="1"/>
          </p:nvPr>
        </p:nvSpPr>
        <p:spPr>
          <a:xfrm>
            <a:off x="643467" y="1062322"/>
            <a:ext cx="10905066" cy="5795678"/>
          </a:xfrm>
        </p:spPr>
        <p:txBody>
          <a:bodyPr>
            <a:normAutofit lnSpcReduction="10000"/>
          </a:bodyPr>
          <a:lstStyle/>
          <a:p>
            <a:r>
              <a:rPr lang="es-ES" sz="3200" dirty="0"/>
              <a:t>Los hilos pueden cambiar de estado a lo largo de su ejecución.</a:t>
            </a:r>
          </a:p>
          <a:p>
            <a:pPr marR="0" algn="just"/>
            <a:r>
              <a:rPr lang="es-ES" sz="3200" dirty="0"/>
              <a:t>Se definen los siguientes estados (conceptuales): </a:t>
            </a:r>
          </a:p>
          <a:p>
            <a:pPr lvl="1" algn="just"/>
            <a:r>
              <a:rPr lang="es-ES" sz="2800" b="1" u="sng" dirty="0"/>
              <a:t>Nuevo</a:t>
            </a:r>
            <a:r>
              <a:rPr lang="es-ES" sz="2800" dirty="0"/>
              <a:t>: el hilo está preparado para su ejecución pero todavía no se ha realizado la llamada correspondiente en la ejecución del código del programa. </a:t>
            </a:r>
          </a:p>
          <a:p>
            <a:pPr lvl="1" algn="just"/>
            <a:r>
              <a:rPr lang="es-ES" sz="2800" b="1" i="1" u="sng" dirty="0" err="1"/>
              <a:t>Runnable</a:t>
            </a:r>
            <a:r>
              <a:rPr lang="es-ES" sz="2800" dirty="0"/>
              <a:t>: el hilo está preparado para ejecutarse y puede estar ejecutándose. </a:t>
            </a:r>
          </a:p>
          <a:p>
            <a:pPr lvl="1" algn="just"/>
            <a:r>
              <a:rPr lang="es-ES" sz="2800" b="1" u="sng" dirty="0"/>
              <a:t>Bloqueado/Esperando</a:t>
            </a:r>
            <a:r>
              <a:rPr lang="es-ES" sz="2800" dirty="0"/>
              <a:t>: el hilo está bloqueado por diversos motivos esperando que el suceso suceda para volver al estado </a:t>
            </a:r>
            <a:r>
              <a:rPr lang="es-ES" sz="2800" i="1" dirty="0" err="1"/>
              <a:t>Runnable</a:t>
            </a:r>
            <a:r>
              <a:rPr lang="es-ES" sz="2800" dirty="0"/>
              <a:t>.</a:t>
            </a:r>
          </a:p>
          <a:p>
            <a:pPr lvl="1" algn="just"/>
            <a:r>
              <a:rPr lang="es-ES" sz="2800" dirty="0"/>
              <a:t>(En Java) </a:t>
            </a:r>
            <a:r>
              <a:rPr lang="es-ES" sz="2800" b="1" u="sng" dirty="0"/>
              <a:t>Esperando por lapso de tiempo (</a:t>
            </a:r>
            <a:r>
              <a:rPr lang="es-ES" sz="2800" b="1" u="sng" dirty="0" err="1"/>
              <a:t>TimedWaiting</a:t>
            </a:r>
            <a:r>
              <a:rPr lang="es-ES" sz="2800" b="1" u="sng" dirty="0"/>
              <a:t>)</a:t>
            </a:r>
            <a:r>
              <a:rPr lang="es-ES" sz="2800" dirty="0"/>
              <a:t>: el hilo permanece en este estado cuando llama a un método con un </a:t>
            </a:r>
            <a:r>
              <a:rPr lang="es-ES" sz="2800" i="1" dirty="0" err="1"/>
              <a:t>timeout</a:t>
            </a:r>
            <a:r>
              <a:rPr lang="es-ES" sz="2800" dirty="0"/>
              <a:t>. Permanecerá en este estado hasta que caduque el </a:t>
            </a:r>
            <a:r>
              <a:rPr lang="es-ES" sz="2800" i="1" dirty="0" err="1"/>
              <a:t>timeout</a:t>
            </a:r>
            <a:r>
              <a:rPr lang="es-ES" sz="2800" dirty="0"/>
              <a:t> o hasta que le llegue una interrupción.</a:t>
            </a:r>
          </a:p>
          <a:p>
            <a:pPr lvl="1" algn="just"/>
            <a:r>
              <a:rPr lang="es-ES" sz="2800" b="1" u="sng" dirty="0"/>
              <a:t>Terminado</a:t>
            </a:r>
            <a:r>
              <a:rPr lang="es-ES" sz="2800" dirty="0"/>
              <a:t>: el hilo ha finalizado su ejecución. Ya sea por terminar la ejecución o por algún suceso abrupto.</a:t>
            </a:r>
          </a:p>
          <a:p>
            <a:pPr marR="0" algn="l"/>
            <a:endParaRPr lang="es-ES" sz="1800" b="0" i="0" u="none" strike="noStrike" baseline="0" dirty="0">
              <a:solidFill>
                <a:srgbClr val="000000"/>
              </a:solidFill>
              <a:latin typeface="Arial MT"/>
            </a:endParaRPr>
          </a:p>
          <a:p>
            <a:endParaRPr lang="es-ES" sz="2400" dirty="0"/>
          </a:p>
        </p:txBody>
      </p:sp>
      <p:sp>
        <p:nvSpPr>
          <p:cNvPr id="10"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8526271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8EEA8BF-AC34-4D10-BDA3-3A3007E142A3}"/>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b="1" u="sng" kern="1200">
                <a:solidFill>
                  <a:srgbClr val="FFFFFF"/>
                </a:solidFill>
                <a:latin typeface="+mj-lt"/>
                <a:ea typeface="+mj-ea"/>
                <a:cs typeface="+mj-cs"/>
              </a:rPr>
              <a:t>Estados de un hilo</a:t>
            </a:r>
          </a:p>
        </p:txBody>
      </p:sp>
      <p:pic>
        <p:nvPicPr>
          <p:cNvPr id="1026" name="Picture 2">
            <a:extLst>
              <a:ext uri="{FF2B5EF4-FFF2-40B4-BE49-F238E27FC236}">
                <a16:creationId xmlns:a16="http://schemas.microsoft.com/office/drawing/2014/main" id="{6689973C-A318-4354-A752-06DA3F14B590}"/>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777316" y="995259"/>
            <a:ext cx="6780700" cy="48651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84463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88EEA8BF-AC34-4D10-BDA3-3A3007E142A3}"/>
              </a:ext>
            </a:extLst>
          </p:cNvPr>
          <p:cNvSpPr>
            <a:spLocks noGrp="1"/>
          </p:cNvSpPr>
          <p:nvPr>
            <p:ph type="title"/>
          </p:nvPr>
        </p:nvSpPr>
        <p:spPr>
          <a:xfrm>
            <a:off x="643467" y="321734"/>
            <a:ext cx="10905066" cy="594173"/>
          </a:xfrm>
        </p:spPr>
        <p:txBody>
          <a:bodyPr>
            <a:normAutofit fontScale="90000"/>
          </a:bodyPr>
          <a:lstStyle/>
          <a:p>
            <a:r>
              <a:rPr lang="es-ES" sz="3600" b="1" u="sng" dirty="0"/>
              <a:t>Sincronización de hilos: Exclusión mutua y condición de carrera</a:t>
            </a:r>
          </a:p>
        </p:txBody>
      </p:sp>
      <p:sp>
        <p:nvSpPr>
          <p:cNvPr id="3" name="Marcador de contenido 2">
            <a:extLst>
              <a:ext uri="{FF2B5EF4-FFF2-40B4-BE49-F238E27FC236}">
                <a16:creationId xmlns:a16="http://schemas.microsoft.com/office/drawing/2014/main" id="{B3FA1E7A-1131-493D-8FB5-8EC609B3755A}"/>
              </a:ext>
            </a:extLst>
          </p:cNvPr>
          <p:cNvSpPr>
            <a:spLocks noGrp="1"/>
          </p:cNvSpPr>
          <p:nvPr>
            <p:ph idx="1"/>
          </p:nvPr>
        </p:nvSpPr>
        <p:spPr>
          <a:xfrm>
            <a:off x="643467" y="1062322"/>
            <a:ext cx="10905066" cy="5252531"/>
          </a:xfrm>
        </p:spPr>
        <p:txBody>
          <a:bodyPr>
            <a:normAutofit/>
          </a:bodyPr>
          <a:lstStyle/>
          <a:p>
            <a:r>
              <a:rPr lang="es-ES" sz="3200" dirty="0"/>
              <a:t>Existen situaciones en las que dos o más hilos hacen operaciones sobre una variable en memoria</a:t>
            </a:r>
          </a:p>
          <a:p>
            <a:pPr lvl="1"/>
            <a:r>
              <a:rPr lang="es-ES" sz="2800" i="1" dirty="0" err="1"/>
              <a:t>Remember</a:t>
            </a:r>
            <a:r>
              <a:rPr lang="es-ES" sz="2800" dirty="0"/>
              <a:t>: los hilos comparten la memoria RAM</a:t>
            </a:r>
          </a:p>
          <a:p>
            <a:r>
              <a:rPr lang="es-ES" sz="3200" dirty="0"/>
              <a:t>Estas situaciones pueden dar lugar a resultados incorrectos</a:t>
            </a:r>
          </a:p>
          <a:p>
            <a:pPr lvl="1"/>
            <a:r>
              <a:rPr lang="es-ES" sz="2800" dirty="0"/>
              <a:t>Según se intercalen las operaciones de distintos hilos, los resultados pueden ser distintos</a:t>
            </a:r>
          </a:p>
          <a:p>
            <a:pPr lvl="2"/>
            <a:r>
              <a:rPr lang="es-ES" sz="2400" dirty="0">
                <a:sym typeface="Wingdings" panose="05000000000000000000" pitchFamily="2" charset="2"/>
              </a:rPr>
              <a:t> </a:t>
            </a:r>
            <a:r>
              <a:rPr lang="es-ES" sz="2400" b="1" dirty="0"/>
              <a:t>Condición de carrera</a:t>
            </a:r>
            <a:r>
              <a:rPr lang="es-ES" sz="2400" dirty="0"/>
              <a:t> (</a:t>
            </a:r>
            <a:r>
              <a:rPr lang="es-ES" sz="2400" i="1" dirty="0" err="1"/>
              <a:t>race</a:t>
            </a:r>
            <a:r>
              <a:rPr lang="es-ES" sz="2400" i="1" dirty="0"/>
              <a:t> </a:t>
            </a:r>
            <a:r>
              <a:rPr lang="es-ES" sz="2400" i="1" dirty="0" err="1"/>
              <a:t>condition</a:t>
            </a:r>
            <a:r>
              <a:rPr lang="es-ES" sz="2400" dirty="0"/>
              <a:t>)</a:t>
            </a:r>
          </a:p>
          <a:p>
            <a:r>
              <a:rPr lang="es-ES" sz="3200" u="sng" dirty="0"/>
              <a:t>Condición de carrera</a:t>
            </a:r>
            <a:r>
              <a:rPr lang="es-ES" sz="3200" dirty="0"/>
              <a:t>: se produce cuando hay ejecuciones concurrentes de dos o más hilos que dan lugar a resultados incorrectos.</a:t>
            </a:r>
          </a:p>
          <a:p>
            <a:pPr lvl="1"/>
            <a:endParaRPr lang="es-ES" sz="2800" dirty="0"/>
          </a:p>
          <a:p>
            <a:pPr lvl="1"/>
            <a:endParaRPr lang="es-ES" sz="2000" dirty="0"/>
          </a:p>
        </p:txBody>
      </p:sp>
      <p:sp>
        <p:nvSpPr>
          <p:cNvPr id="10"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5051026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88EEA8BF-AC34-4D10-BDA3-3A3007E142A3}"/>
              </a:ext>
            </a:extLst>
          </p:cNvPr>
          <p:cNvSpPr>
            <a:spLocks noGrp="1"/>
          </p:cNvSpPr>
          <p:nvPr>
            <p:ph type="title"/>
          </p:nvPr>
        </p:nvSpPr>
        <p:spPr>
          <a:xfrm>
            <a:off x="643467" y="321734"/>
            <a:ext cx="10905066" cy="594173"/>
          </a:xfrm>
        </p:spPr>
        <p:txBody>
          <a:bodyPr>
            <a:normAutofit fontScale="90000"/>
          </a:bodyPr>
          <a:lstStyle/>
          <a:p>
            <a:r>
              <a:rPr lang="es-ES" sz="3600" b="1" u="sng" dirty="0"/>
              <a:t>Sincronización de hilos: Exclusión mutua y condición de carrera</a:t>
            </a:r>
          </a:p>
        </p:txBody>
      </p:sp>
      <p:sp>
        <p:nvSpPr>
          <p:cNvPr id="3" name="Marcador de contenido 2">
            <a:extLst>
              <a:ext uri="{FF2B5EF4-FFF2-40B4-BE49-F238E27FC236}">
                <a16:creationId xmlns:a16="http://schemas.microsoft.com/office/drawing/2014/main" id="{B3FA1E7A-1131-493D-8FB5-8EC609B3755A}"/>
              </a:ext>
            </a:extLst>
          </p:cNvPr>
          <p:cNvSpPr>
            <a:spLocks noGrp="1"/>
          </p:cNvSpPr>
          <p:nvPr>
            <p:ph idx="1"/>
          </p:nvPr>
        </p:nvSpPr>
        <p:spPr>
          <a:xfrm>
            <a:off x="643467" y="1062322"/>
            <a:ext cx="10905066" cy="5252531"/>
          </a:xfrm>
        </p:spPr>
        <p:txBody>
          <a:bodyPr>
            <a:normAutofit/>
          </a:bodyPr>
          <a:lstStyle/>
          <a:p>
            <a:r>
              <a:rPr lang="es-ES" sz="3200" dirty="0"/>
              <a:t>Ejemplo </a:t>
            </a:r>
            <a:r>
              <a:rPr lang="es-ES" sz="3200" dirty="0" err="1"/>
              <a:t>CuentaBancaria</a:t>
            </a:r>
            <a:r>
              <a:rPr lang="es-ES" sz="3200" dirty="0"/>
              <a:t> y Clientes</a:t>
            </a:r>
          </a:p>
          <a:p>
            <a:r>
              <a:rPr lang="es-ES" sz="3200" dirty="0"/>
              <a:t>Tendremos una </a:t>
            </a:r>
            <a:r>
              <a:rPr lang="es-ES" sz="3200" dirty="0" err="1"/>
              <a:t>CuentaBancaria</a:t>
            </a:r>
            <a:r>
              <a:rPr lang="es-ES" sz="3200" dirty="0"/>
              <a:t> sobre la que varios clientes (hilos) incrementarán los gastos.</a:t>
            </a:r>
          </a:p>
          <a:p>
            <a:r>
              <a:rPr lang="es-ES" sz="3200" dirty="0"/>
              <a:t>Tendremos que hacer un total de 100.000 gastos, repartidos equitativamente sobre cada cliente.</a:t>
            </a:r>
          </a:p>
          <a:p>
            <a:r>
              <a:rPr lang="es-ES" sz="3200" dirty="0"/>
              <a:t>Al final del proceso, la cuenta bancaria debería tener 100.000 gastos, y cada cliente haber hecho su parte.</a:t>
            </a:r>
          </a:p>
          <a:p>
            <a:r>
              <a:rPr lang="es-ES" sz="3200" dirty="0"/>
              <a:t>A comprobarlo…</a:t>
            </a:r>
            <a:endParaRPr lang="es-ES" sz="2800" dirty="0"/>
          </a:p>
          <a:p>
            <a:pPr lvl="1"/>
            <a:endParaRPr lang="es-ES" sz="2000" dirty="0"/>
          </a:p>
        </p:txBody>
      </p:sp>
      <p:sp>
        <p:nvSpPr>
          <p:cNvPr id="10"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4126356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88EEA8BF-AC34-4D10-BDA3-3A3007E142A3}"/>
              </a:ext>
            </a:extLst>
          </p:cNvPr>
          <p:cNvSpPr>
            <a:spLocks noGrp="1"/>
          </p:cNvSpPr>
          <p:nvPr>
            <p:ph type="title"/>
          </p:nvPr>
        </p:nvSpPr>
        <p:spPr>
          <a:xfrm>
            <a:off x="643467" y="321734"/>
            <a:ext cx="10905066" cy="594173"/>
          </a:xfrm>
        </p:spPr>
        <p:txBody>
          <a:bodyPr>
            <a:normAutofit fontScale="90000"/>
          </a:bodyPr>
          <a:lstStyle/>
          <a:p>
            <a:r>
              <a:rPr lang="es-ES" sz="3600" b="1" u="sng" dirty="0"/>
              <a:t>Sincronización de hilos: Exclusión mutua y condición de carrera</a:t>
            </a:r>
          </a:p>
        </p:txBody>
      </p:sp>
      <p:sp>
        <p:nvSpPr>
          <p:cNvPr id="3" name="Marcador de contenido 2">
            <a:extLst>
              <a:ext uri="{FF2B5EF4-FFF2-40B4-BE49-F238E27FC236}">
                <a16:creationId xmlns:a16="http://schemas.microsoft.com/office/drawing/2014/main" id="{B3FA1E7A-1131-493D-8FB5-8EC609B3755A}"/>
              </a:ext>
            </a:extLst>
          </p:cNvPr>
          <p:cNvSpPr>
            <a:spLocks noGrp="1"/>
          </p:cNvSpPr>
          <p:nvPr>
            <p:ph idx="1"/>
          </p:nvPr>
        </p:nvSpPr>
        <p:spPr>
          <a:xfrm>
            <a:off x="643467" y="1062322"/>
            <a:ext cx="10905066" cy="5556755"/>
          </a:xfrm>
        </p:spPr>
        <p:txBody>
          <a:bodyPr>
            <a:normAutofit/>
          </a:bodyPr>
          <a:lstStyle/>
          <a:p>
            <a:r>
              <a:rPr lang="es-ES" sz="3200" dirty="0"/>
              <a:t>Cuando hay una sección de código que da pie a que se produzcan esas condiciones de carrera, se dice que tenemos una </a:t>
            </a:r>
            <a:r>
              <a:rPr lang="es-ES" sz="3200" b="1" i="1" dirty="0"/>
              <a:t>sección crítica</a:t>
            </a:r>
            <a:r>
              <a:rPr lang="es-ES" sz="3200" dirty="0"/>
              <a:t>.</a:t>
            </a:r>
          </a:p>
          <a:p>
            <a:r>
              <a:rPr lang="es-ES" sz="3200" dirty="0"/>
              <a:t>Las secciones críticas deberían ejecutarse con </a:t>
            </a:r>
            <a:r>
              <a:rPr lang="es-ES" sz="3200" b="1" dirty="0"/>
              <a:t>exclusión mutua </a:t>
            </a:r>
            <a:r>
              <a:rPr lang="es-ES" sz="3200" dirty="0"/>
              <a:t>para que 2 o más hilos no lo ejecuten concurrentemente, sino que se turnen.</a:t>
            </a:r>
          </a:p>
          <a:p>
            <a:r>
              <a:rPr lang="es-ES" sz="3200" dirty="0"/>
              <a:t>Hay varias maneras: una manera en Java para conseguir exclusión mutua es utilizar la palabra clave </a:t>
            </a:r>
            <a:r>
              <a:rPr lang="es-ES" sz="3200" b="1" i="1" dirty="0" err="1"/>
              <a:t>synchronized</a:t>
            </a:r>
            <a:endParaRPr lang="es-ES" sz="3200" b="1" i="1" dirty="0"/>
          </a:p>
          <a:p>
            <a:pPr lvl="1"/>
            <a:r>
              <a:rPr lang="es-ES" sz="2800" dirty="0"/>
              <a:t>Conseguimos que un hilo que quiera ejecutar una región de código se espere si hay otro hilo ejecutando la misma sección.</a:t>
            </a:r>
          </a:p>
          <a:p>
            <a:pPr lvl="1"/>
            <a:r>
              <a:rPr lang="es-ES" sz="2800" dirty="0"/>
              <a:t>Se entiende con el uso de </a:t>
            </a:r>
            <a:r>
              <a:rPr lang="es-ES" sz="2800" i="1" dirty="0" err="1"/>
              <a:t>synchronized</a:t>
            </a:r>
            <a:r>
              <a:rPr lang="es-ES" sz="2800" dirty="0"/>
              <a:t> que se utiliza un mecanismo de </a:t>
            </a:r>
            <a:r>
              <a:rPr lang="es-ES" sz="2800" b="1" dirty="0"/>
              <a:t>monitores</a:t>
            </a:r>
          </a:p>
          <a:p>
            <a:endParaRPr lang="es-ES" sz="3200" dirty="0"/>
          </a:p>
          <a:p>
            <a:pPr lvl="1"/>
            <a:endParaRPr lang="es-ES" sz="2800" dirty="0"/>
          </a:p>
          <a:p>
            <a:pPr lvl="1"/>
            <a:endParaRPr lang="es-ES" sz="2000" dirty="0"/>
          </a:p>
        </p:txBody>
      </p:sp>
      <p:sp>
        <p:nvSpPr>
          <p:cNvPr id="10"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5462985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88EEA8BF-AC34-4D10-BDA3-3A3007E142A3}"/>
              </a:ext>
            </a:extLst>
          </p:cNvPr>
          <p:cNvSpPr>
            <a:spLocks noGrp="1"/>
          </p:cNvSpPr>
          <p:nvPr>
            <p:ph type="title"/>
          </p:nvPr>
        </p:nvSpPr>
        <p:spPr>
          <a:xfrm>
            <a:off x="643467" y="321734"/>
            <a:ext cx="10905066" cy="594173"/>
          </a:xfrm>
        </p:spPr>
        <p:txBody>
          <a:bodyPr>
            <a:normAutofit/>
          </a:bodyPr>
          <a:lstStyle/>
          <a:p>
            <a:r>
              <a:rPr lang="es-ES" sz="3600" b="1" u="sng" dirty="0"/>
              <a:t>Sincronización de hilos: Monitores</a:t>
            </a:r>
          </a:p>
        </p:txBody>
      </p:sp>
      <p:sp>
        <p:nvSpPr>
          <p:cNvPr id="3" name="Marcador de contenido 2">
            <a:extLst>
              <a:ext uri="{FF2B5EF4-FFF2-40B4-BE49-F238E27FC236}">
                <a16:creationId xmlns:a16="http://schemas.microsoft.com/office/drawing/2014/main" id="{B3FA1E7A-1131-493D-8FB5-8EC609B3755A}"/>
              </a:ext>
            </a:extLst>
          </p:cNvPr>
          <p:cNvSpPr>
            <a:spLocks noGrp="1"/>
          </p:cNvSpPr>
          <p:nvPr>
            <p:ph idx="1"/>
          </p:nvPr>
        </p:nvSpPr>
        <p:spPr>
          <a:xfrm>
            <a:off x="643467" y="1062322"/>
            <a:ext cx="10905066" cy="5556755"/>
          </a:xfrm>
        </p:spPr>
        <p:txBody>
          <a:bodyPr>
            <a:normAutofit/>
          </a:bodyPr>
          <a:lstStyle/>
          <a:p>
            <a:r>
              <a:rPr lang="es-ES" sz="3200" dirty="0"/>
              <a:t>Podemos valernos de la palabra reservada </a:t>
            </a:r>
            <a:r>
              <a:rPr lang="es-ES" sz="3200" dirty="0" err="1"/>
              <a:t>synchronized</a:t>
            </a:r>
            <a:r>
              <a:rPr lang="es-ES" sz="3200" dirty="0"/>
              <a:t> de dos maneras:</a:t>
            </a:r>
          </a:p>
          <a:p>
            <a:pPr lvl="1"/>
            <a:r>
              <a:rPr lang="es-ES" b="1" dirty="0"/>
              <a:t>Métodos sincronizados</a:t>
            </a:r>
            <a:r>
              <a:rPr lang="es-ES" dirty="0"/>
              <a:t>: La ejecución por parte de un hilo de un método sincronizado de un objeto en Java imposibilita que se ejecute a la vez otro método sincronizado del mismo objeto por parte de otro hilo.</a:t>
            </a:r>
          </a:p>
          <a:p>
            <a:pPr lvl="2"/>
            <a:r>
              <a:rPr lang="es-ES" dirty="0"/>
              <a:t>Basta con añadir la palabra en la declaración del método:</a:t>
            </a:r>
          </a:p>
          <a:p>
            <a:pPr marL="1371600" lvl="3" indent="0">
              <a:buNone/>
            </a:pPr>
            <a:r>
              <a:rPr lang="es-ES" sz="1600" b="1" dirty="0" err="1">
                <a:solidFill>
                  <a:srgbClr val="7F0055"/>
                </a:solidFill>
                <a:latin typeface="Consolas" panose="020B0609020204030204" pitchFamily="49" charset="0"/>
              </a:rPr>
              <a:t>public</a:t>
            </a:r>
            <a:r>
              <a:rPr lang="es-ES" sz="1600" b="1" dirty="0">
                <a:solidFill>
                  <a:srgbClr val="000000"/>
                </a:solidFill>
                <a:latin typeface="Consolas" panose="020B0609020204030204" pitchFamily="49" charset="0"/>
              </a:rPr>
              <a:t> </a:t>
            </a:r>
            <a:r>
              <a:rPr lang="es-ES" sz="1600" b="1" dirty="0" err="1">
                <a:solidFill>
                  <a:srgbClr val="7F0055"/>
                </a:solidFill>
                <a:latin typeface="Consolas" panose="020B0609020204030204" pitchFamily="49" charset="0"/>
              </a:rPr>
              <a:t>synchronized</a:t>
            </a:r>
            <a:r>
              <a:rPr lang="es-ES" sz="1600" b="1" dirty="0">
                <a:solidFill>
                  <a:srgbClr val="000000"/>
                </a:solidFill>
                <a:latin typeface="Consolas" panose="020B0609020204030204" pitchFamily="49" charset="0"/>
              </a:rPr>
              <a:t> </a:t>
            </a:r>
            <a:r>
              <a:rPr lang="es-ES" sz="1600" b="1" dirty="0" err="1">
                <a:solidFill>
                  <a:srgbClr val="7F0055"/>
                </a:solidFill>
                <a:latin typeface="Consolas" panose="020B0609020204030204" pitchFamily="49" charset="0"/>
              </a:rPr>
              <a:t>int</a:t>
            </a:r>
            <a:r>
              <a:rPr lang="es-ES" sz="1600" b="1" dirty="0">
                <a:solidFill>
                  <a:srgbClr val="000000"/>
                </a:solidFill>
                <a:latin typeface="Consolas" panose="020B0609020204030204" pitchFamily="49" charset="0"/>
              </a:rPr>
              <a:t> </a:t>
            </a:r>
            <a:r>
              <a:rPr lang="es-ES" sz="1600" b="1" dirty="0" err="1">
                <a:solidFill>
                  <a:srgbClr val="000000"/>
                </a:solidFill>
                <a:latin typeface="Consolas" panose="020B0609020204030204" pitchFamily="49" charset="0"/>
              </a:rPr>
              <a:t>incrementaGastos</a:t>
            </a:r>
            <a:r>
              <a:rPr lang="es-ES" sz="1600" b="1" dirty="0">
                <a:solidFill>
                  <a:srgbClr val="000000"/>
                </a:solidFill>
                <a:latin typeface="Consolas" panose="020B0609020204030204" pitchFamily="49" charset="0"/>
              </a:rPr>
              <a:t>() {</a:t>
            </a:r>
          </a:p>
          <a:p>
            <a:pPr marL="1828800" lvl="4" indent="0">
              <a:buNone/>
            </a:pPr>
            <a:r>
              <a:rPr lang="es-ES" sz="1600" b="1" dirty="0" err="1">
                <a:solidFill>
                  <a:srgbClr val="7F0055"/>
                </a:solidFill>
                <a:latin typeface="Consolas" panose="020B0609020204030204" pitchFamily="49" charset="0"/>
              </a:rPr>
              <a:t>this</a:t>
            </a:r>
            <a:r>
              <a:rPr lang="es-ES" sz="1600" b="1" dirty="0" err="1">
                <a:solidFill>
                  <a:srgbClr val="000000"/>
                </a:solidFill>
                <a:latin typeface="Consolas" panose="020B0609020204030204" pitchFamily="49" charset="0"/>
              </a:rPr>
              <a:t>.</a:t>
            </a:r>
            <a:r>
              <a:rPr lang="es-ES" sz="1600" b="1" dirty="0" err="1">
                <a:solidFill>
                  <a:srgbClr val="0000C0"/>
                </a:solidFill>
                <a:latin typeface="Consolas" panose="020B0609020204030204" pitchFamily="49" charset="0"/>
              </a:rPr>
              <a:t>gastos</a:t>
            </a:r>
            <a:r>
              <a:rPr lang="es-ES" sz="1600" b="1" dirty="0">
                <a:solidFill>
                  <a:srgbClr val="000000"/>
                </a:solidFill>
                <a:latin typeface="Consolas" panose="020B0609020204030204" pitchFamily="49" charset="0"/>
              </a:rPr>
              <a:t>++;</a:t>
            </a:r>
          </a:p>
          <a:p>
            <a:pPr marL="1828800" lvl="4" indent="0">
              <a:buNone/>
            </a:pPr>
            <a:r>
              <a:rPr lang="es-ES" sz="1600" b="1" dirty="0" err="1">
                <a:solidFill>
                  <a:srgbClr val="7F0055"/>
                </a:solidFill>
                <a:latin typeface="Consolas" panose="020B0609020204030204" pitchFamily="49" charset="0"/>
              </a:rPr>
              <a:t>return</a:t>
            </a:r>
            <a:r>
              <a:rPr lang="es-ES" sz="1600" b="1" dirty="0">
                <a:solidFill>
                  <a:srgbClr val="000000"/>
                </a:solidFill>
                <a:latin typeface="Consolas" panose="020B0609020204030204" pitchFamily="49" charset="0"/>
              </a:rPr>
              <a:t> </a:t>
            </a:r>
            <a:r>
              <a:rPr lang="es-ES" sz="1600" b="1" dirty="0" err="1">
                <a:solidFill>
                  <a:srgbClr val="000000"/>
                </a:solidFill>
                <a:latin typeface="Consolas" panose="020B0609020204030204" pitchFamily="49" charset="0"/>
              </a:rPr>
              <a:t>getGastos</a:t>
            </a:r>
            <a:r>
              <a:rPr lang="es-ES" sz="1600" b="1" dirty="0">
                <a:solidFill>
                  <a:srgbClr val="000000"/>
                </a:solidFill>
                <a:latin typeface="Consolas" panose="020B0609020204030204" pitchFamily="49" charset="0"/>
              </a:rPr>
              <a:t>();</a:t>
            </a:r>
          </a:p>
          <a:p>
            <a:pPr marL="1371600" lvl="3" indent="0">
              <a:buNone/>
            </a:pPr>
            <a:r>
              <a:rPr lang="es-ES" sz="1600" dirty="0">
                <a:solidFill>
                  <a:srgbClr val="000000"/>
                </a:solidFill>
                <a:latin typeface="Consolas" panose="020B0609020204030204" pitchFamily="49" charset="0"/>
              </a:rPr>
              <a:t>}</a:t>
            </a:r>
            <a:endParaRPr lang="es-ES" sz="4400" dirty="0"/>
          </a:p>
          <a:p>
            <a:pPr lvl="2"/>
            <a:r>
              <a:rPr lang="es-ES" dirty="0"/>
              <a:t>Cuando un hilo invoca un método sincronizado, adquiere automáticamente el </a:t>
            </a:r>
            <a:r>
              <a:rPr lang="es-ES" b="1" dirty="0"/>
              <a:t>monitor</a:t>
            </a:r>
            <a:r>
              <a:rPr lang="es-ES" dirty="0"/>
              <a:t> que el sistema crea específicamente para todo el objeto que contiene ese método.</a:t>
            </a:r>
          </a:p>
          <a:p>
            <a:endParaRPr lang="es-ES" sz="3200" dirty="0"/>
          </a:p>
          <a:p>
            <a:pPr lvl="1"/>
            <a:endParaRPr lang="es-ES" sz="2800" dirty="0"/>
          </a:p>
          <a:p>
            <a:pPr lvl="1"/>
            <a:endParaRPr lang="es-ES" sz="2000" dirty="0"/>
          </a:p>
        </p:txBody>
      </p:sp>
      <p:sp>
        <p:nvSpPr>
          <p:cNvPr id="10"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7487469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88EEA8BF-AC34-4D10-BDA3-3A3007E142A3}"/>
              </a:ext>
            </a:extLst>
          </p:cNvPr>
          <p:cNvSpPr>
            <a:spLocks noGrp="1"/>
          </p:cNvSpPr>
          <p:nvPr>
            <p:ph type="title"/>
          </p:nvPr>
        </p:nvSpPr>
        <p:spPr>
          <a:xfrm>
            <a:off x="643467" y="321734"/>
            <a:ext cx="10905066" cy="594173"/>
          </a:xfrm>
        </p:spPr>
        <p:txBody>
          <a:bodyPr>
            <a:normAutofit/>
          </a:bodyPr>
          <a:lstStyle/>
          <a:p>
            <a:r>
              <a:rPr lang="es-ES" sz="3600" b="1" u="sng" dirty="0"/>
              <a:t>Sincronización de hilos: Monitores</a:t>
            </a:r>
          </a:p>
        </p:txBody>
      </p:sp>
      <p:sp>
        <p:nvSpPr>
          <p:cNvPr id="3" name="Marcador de contenido 2">
            <a:extLst>
              <a:ext uri="{FF2B5EF4-FFF2-40B4-BE49-F238E27FC236}">
                <a16:creationId xmlns:a16="http://schemas.microsoft.com/office/drawing/2014/main" id="{B3FA1E7A-1131-493D-8FB5-8EC609B3755A}"/>
              </a:ext>
            </a:extLst>
          </p:cNvPr>
          <p:cNvSpPr>
            <a:spLocks noGrp="1"/>
          </p:cNvSpPr>
          <p:nvPr>
            <p:ph idx="1"/>
          </p:nvPr>
        </p:nvSpPr>
        <p:spPr>
          <a:xfrm>
            <a:off x="643467" y="1062322"/>
            <a:ext cx="10905066" cy="5556755"/>
          </a:xfrm>
        </p:spPr>
        <p:txBody>
          <a:bodyPr>
            <a:normAutofit/>
          </a:bodyPr>
          <a:lstStyle/>
          <a:p>
            <a:r>
              <a:rPr lang="es-ES" sz="3200" dirty="0"/>
              <a:t>Podemos valernos de la palabra reservada </a:t>
            </a:r>
            <a:r>
              <a:rPr lang="es-ES" sz="3200" dirty="0" err="1"/>
              <a:t>synchronized</a:t>
            </a:r>
            <a:r>
              <a:rPr lang="es-ES" sz="3200" dirty="0"/>
              <a:t> de dos maneras:</a:t>
            </a:r>
          </a:p>
          <a:p>
            <a:pPr lvl="1"/>
            <a:r>
              <a:rPr lang="es-ES" b="1" dirty="0"/>
              <a:t>Sentencias sincronizadas</a:t>
            </a:r>
            <a:r>
              <a:rPr lang="es-ES" dirty="0"/>
              <a:t>: Permite una sincronización de grano fino al sincronizar únicamente una región específica de código.</a:t>
            </a:r>
          </a:p>
          <a:p>
            <a:pPr lvl="2"/>
            <a:r>
              <a:rPr lang="es-ES" dirty="0"/>
              <a:t>Esta funcionalidad permite especificar el objeto que proporciona el monitor en vez de ser el objeto por defecto que se está ejecutando como ocurre en métodos sincronizados.</a:t>
            </a:r>
          </a:p>
          <a:p>
            <a:pPr lvl="2"/>
            <a:r>
              <a:rPr lang="es-ES" dirty="0"/>
              <a:t>Para usarlo, agrupar el </a:t>
            </a:r>
            <a:r>
              <a:rPr lang="es-ES" dirty="0" err="1"/>
              <a:t>synchronized</a:t>
            </a:r>
            <a:r>
              <a:rPr lang="es-ES" dirty="0"/>
              <a:t> sobre un objeto que simboliza el monitor:</a:t>
            </a:r>
          </a:p>
          <a:p>
            <a:pPr marL="1371600" lvl="3" indent="0">
              <a:buNone/>
            </a:pPr>
            <a:r>
              <a:rPr lang="es-ES" sz="1600" b="1" dirty="0" err="1">
                <a:solidFill>
                  <a:srgbClr val="7F0055"/>
                </a:solidFill>
                <a:latin typeface="Consolas" panose="020B0609020204030204" pitchFamily="49" charset="0"/>
              </a:rPr>
              <a:t>public</a:t>
            </a:r>
            <a:r>
              <a:rPr lang="es-ES" sz="1600" b="1" dirty="0">
                <a:solidFill>
                  <a:srgbClr val="000000"/>
                </a:solidFill>
                <a:latin typeface="Consolas" panose="020B0609020204030204" pitchFamily="49" charset="0"/>
              </a:rPr>
              <a:t> </a:t>
            </a:r>
            <a:r>
              <a:rPr lang="es-ES" sz="1600" b="1" dirty="0" err="1">
                <a:solidFill>
                  <a:srgbClr val="7F0055"/>
                </a:solidFill>
                <a:latin typeface="Consolas" panose="020B0609020204030204" pitchFamily="49" charset="0"/>
              </a:rPr>
              <a:t>void</a:t>
            </a:r>
            <a:r>
              <a:rPr lang="es-ES" sz="1600" b="1" dirty="0">
                <a:solidFill>
                  <a:srgbClr val="000000"/>
                </a:solidFill>
                <a:latin typeface="Consolas" panose="020B0609020204030204" pitchFamily="49" charset="0"/>
              </a:rPr>
              <a:t> incrementar1() {</a:t>
            </a:r>
          </a:p>
          <a:p>
            <a:pPr marL="1828800" lvl="4" indent="0">
              <a:buNone/>
            </a:pPr>
            <a:r>
              <a:rPr lang="es-ES" sz="1600" b="1" dirty="0" err="1">
                <a:solidFill>
                  <a:srgbClr val="7F0055"/>
                </a:solidFill>
                <a:latin typeface="Consolas" panose="020B0609020204030204" pitchFamily="49" charset="0"/>
              </a:rPr>
              <a:t>synchronized</a:t>
            </a:r>
            <a:r>
              <a:rPr lang="es-ES" sz="1600" b="1" dirty="0">
                <a:solidFill>
                  <a:srgbClr val="000000"/>
                </a:solidFill>
                <a:latin typeface="Consolas" panose="020B0609020204030204" pitchFamily="49" charset="0"/>
              </a:rPr>
              <a:t> (</a:t>
            </a:r>
            <a:r>
              <a:rPr lang="es-ES" sz="1600" b="1" dirty="0">
                <a:solidFill>
                  <a:srgbClr val="0000C0"/>
                </a:solidFill>
                <a:latin typeface="Consolas" panose="020B0609020204030204" pitchFamily="49" charset="0"/>
              </a:rPr>
              <a:t>lock1</a:t>
            </a:r>
            <a:r>
              <a:rPr lang="es-ES" sz="1600" b="1" dirty="0">
                <a:solidFill>
                  <a:srgbClr val="000000"/>
                </a:solidFill>
                <a:latin typeface="Consolas" panose="020B0609020204030204" pitchFamily="49" charset="0"/>
              </a:rPr>
              <a:t>) {</a:t>
            </a:r>
          </a:p>
          <a:p>
            <a:pPr marL="1828800" lvl="4" indent="0">
              <a:buNone/>
            </a:pPr>
            <a:r>
              <a:rPr lang="es-ES" sz="1600" dirty="0">
                <a:solidFill>
                  <a:srgbClr val="0000C0"/>
                </a:solidFill>
                <a:latin typeface="Consolas" panose="020B0609020204030204" pitchFamily="49" charset="0"/>
              </a:rPr>
              <a:t>cont1</a:t>
            </a:r>
            <a:r>
              <a:rPr lang="es-ES" sz="1600" dirty="0">
                <a:solidFill>
                  <a:srgbClr val="000000"/>
                </a:solidFill>
                <a:latin typeface="Consolas" panose="020B0609020204030204" pitchFamily="49" charset="0"/>
              </a:rPr>
              <a:t>++;</a:t>
            </a:r>
          </a:p>
          <a:p>
            <a:pPr marL="1828800" lvl="4" indent="0">
              <a:buNone/>
            </a:pPr>
            <a:r>
              <a:rPr lang="es-ES" sz="1600" dirty="0">
                <a:solidFill>
                  <a:srgbClr val="000000"/>
                </a:solidFill>
                <a:latin typeface="Consolas" panose="020B0609020204030204" pitchFamily="49" charset="0"/>
              </a:rPr>
              <a:t>}</a:t>
            </a:r>
          </a:p>
          <a:p>
            <a:pPr marL="1371600" lvl="3" indent="0">
              <a:buNone/>
            </a:pPr>
            <a:r>
              <a:rPr lang="es-ES" sz="1600" dirty="0">
                <a:solidFill>
                  <a:srgbClr val="000000"/>
                </a:solidFill>
                <a:latin typeface="Consolas" panose="020B0609020204030204" pitchFamily="49" charset="0"/>
              </a:rPr>
              <a:t>}</a:t>
            </a:r>
            <a:endParaRPr lang="es-ES" sz="6600" dirty="0"/>
          </a:p>
          <a:p>
            <a:endParaRPr lang="es-ES" sz="3200" dirty="0"/>
          </a:p>
          <a:p>
            <a:pPr lvl="1"/>
            <a:endParaRPr lang="es-ES" sz="2800" dirty="0"/>
          </a:p>
          <a:p>
            <a:pPr lvl="1"/>
            <a:endParaRPr lang="es-ES" sz="2000" dirty="0"/>
          </a:p>
        </p:txBody>
      </p:sp>
      <p:sp>
        <p:nvSpPr>
          <p:cNvPr id="10"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177829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88EEA8BF-AC34-4D10-BDA3-3A3007E142A3}"/>
              </a:ext>
            </a:extLst>
          </p:cNvPr>
          <p:cNvSpPr>
            <a:spLocks noGrp="1"/>
          </p:cNvSpPr>
          <p:nvPr>
            <p:ph type="title"/>
          </p:nvPr>
        </p:nvSpPr>
        <p:spPr>
          <a:xfrm>
            <a:off x="643467" y="321734"/>
            <a:ext cx="10905066" cy="594173"/>
          </a:xfrm>
        </p:spPr>
        <p:txBody>
          <a:bodyPr>
            <a:normAutofit/>
          </a:bodyPr>
          <a:lstStyle/>
          <a:p>
            <a:r>
              <a:rPr lang="es-ES" sz="3600" b="1" u="sng" dirty="0"/>
              <a:t>Sincronización de hilos: Semáforos</a:t>
            </a:r>
          </a:p>
        </p:txBody>
      </p:sp>
      <p:sp>
        <p:nvSpPr>
          <p:cNvPr id="3" name="Marcador de contenido 2">
            <a:extLst>
              <a:ext uri="{FF2B5EF4-FFF2-40B4-BE49-F238E27FC236}">
                <a16:creationId xmlns:a16="http://schemas.microsoft.com/office/drawing/2014/main" id="{B3FA1E7A-1131-493D-8FB5-8EC609B3755A}"/>
              </a:ext>
            </a:extLst>
          </p:cNvPr>
          <p:cNvSpPr>
            <a:spLocks noGrp="1"/>
          </p:cNvSpPr>
          <p:nvPr>
            <p:ph idx="1"/>
          </p:nvPr>
        </p:nvSpPr>
        <p:spPr>
          <a:xfrm>
            <a:off x="643467" y="1062322"/>
            <a:ext cx="10905066" cy="5252531"/>
          </a:xfrm>
        </p:spPr>
        <p:txBody>
          <a:bodyPr>
            <a:normAutofit/>
          </a:bodyPr>
          <a:lstStyle/>
          <a:p>
            <a:r>
              <a:rPr lang="es-ES" sz="3200" dirty="0"/>
              <a:t>Otra forma de sincronizar hilos</a:t>
            </a:r>
            <a:endParaRPr lang="es-ES" sz="2800" dirty="0"/>
          </a:p>
          <a:p>
            <a:r>
              <a:rPr lang="es-ES" sz="2800" dirty="0"/>
              <a:t>Un semáforo se representa como:</a:t>
            </a:r>
          </a:p>
          <a:p>
            <a:pPr lvl="1"/>
            <a:r>
              <a:rPr lang="es-ES" dirty="0"/>
              <a:t>Variable entera donde su valor representa el número de instancias libres o disponibles en el recurso compartido.</a:t>
            </a:r>
          </a:p>
          <a:p>
            <a:pPr lvl="1"/>
            <a:r>
              <a:rPr lang="es-ES" dirty="0"/>
              <a:t>Cola donde se almacenan los procesos o hilos bloqueados esperando para usar el recurso.</a:t>
            </a:r>
          </a:p>
          <a:p>
            <a:r>
              <a:rPr lang="es-ES" dirty="0"/>
              <a:t>Dinámica:</a:t>
            </a:r>
          </a:p>
          <a:p>
            <a:pPr lvl="1"/>
            <a:r>
              <a:rPr lang="es-ES" dirty="0"/>
              <a:t>Se solicita un “ticket” al semáforo</a:t>
            </a:r>
          </a:p>
          <a:p>
            <a:pPr lvl="2"/>
            <a:r>
              <a:rPr lang="es-ES" dirty="0"/>
              <a:t>Si hay tickets disponibles, se procede a la sección crítica</a:t>
            </a:r>
          </a:p>
          <a:p>
            <a:pPr lvl="3"/>
            <a:r>
              <a:rPr lang="es-ES" dirty="0"/>
              <a:t>Cuando se termine, se libera el ticket</a:t>
            </a:r>
          </a:p>
          <a:p>
            <a:pPr lvl="2"/>
            <a:r>
              <a:rPr lang="es-ES" dirty="0"/>
              <a:t>Si no hay tickets disponibles, se queda esperando</a:t>
            </a:r>
          </a:p>
          <a:p>
            <a:pPr lvl="3"/>
            <a:r>
              <a:rPr lang="es-ES" dirty="0"/>
              <a:t>Cuando se libere un ticket, lo cogerá y entrará a la sección crítica</a:t>
            </a:r>
          </a:p>
          <a:p>
            <a:r>
              <a:rPr lang="es-ES" dirty="0"/>
              <a:t>Ejemplo: coches y parking</a:t>
            </a:r>
          </a:p>
          <a:p>
            <a:endParaRPr lang="es-ES" dirty="0"/>
          </a:p>
          <a:p>
            <a:endParaRPr lang="es-ES" sz="3200" dirty="0"/>
          </a:p>
          <a:p>
            <a:pPr lvl="1"/>
            <a:endParaRPr lang="es-ES" sz="2800" dirty="0"/>
          </a:p>
          <a:p>
            <a:pPr lvl="1"/>
            <a:endParaRPr lang="es-ES" sz="2000" dirty="0"/>
          </a:p>
        </p:txBody>
      </p:sp>
      <p:sp>
        <p:nvSpPr>
          <p:cNvPr id="10"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9935729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88EEA8BF-AC34-4D10-BDA3-3A3007E142A3}"/>
              </a:ext>
            </a:extLst>
          </p:cNvPr>
          <p:cNvSpPr>
            <a:spLocks noGrp="1"/>
          </p:cNvSpPr>
          <p:nvPr>
            <p:ph type="title"/>
          </p:nvPr>
        </p:nvSpPr>
        <p:spPr>
          <a:xfrm>
            <a:off x="643467" y="321734"/>
            <a:ext cx="10905066" cy="594173"/>
          </a:xfrm>
        </p:spPr>
        <p:txBody>
          <a:bodyPr>
            <a:normAutofit/>
          </a:bodyPr>
          <a:lstStyle/>
          <a:p>
            <a:r>
              <a:rPr lang="es-ES" sz="3600" b="1" u="sng" dirty="0"/>
              <a:t>Sincronización de hilos: Semáforos</a:t>
            </a:r>
          </a:p>
        </p:txBody>
      </p:sp>
      <p:sp>
        <p:nvSpPr>
          <p:cNvPr id="3" name="Marcador de contenido 2">
            <a:extLst>
              <a:ext uri="{FF2B5EF4-FFF2-40B4-BE49-F238E27FC236}">
                <a16:creationId xmlns:a16="http://schemas.microsoft.com/office/drawing/2014/main" id="{B3FA1E7A-1131-493D-8FB5-8EC609B3755A}"/>
              </a:ext>
            </a:extLst>
          </p:cNvPr>
          <p:cNvSpPr>
            <a:spLocks noGrp="1"/>
          </p:cNvSpPr>
          <p:nvPr>
            <p:ph idx="1"/>
          </p:nvPr>
        </p:nvSpPr>
        <p:spPr>
          <a:xfrm>
            <a:off x="643467" y="1062322"/>
            <a:ext cx="10905066" cy="5252531"/>
          </a:xfrm>
        </p:spPr>
        <p:txBody>
          <a:bodyPr>
            <a:normAutofit/>
          </a:bodyPr>
          <a:lstStyle/>
          <a:p>
            <a:r>
              <a:rPr lang="es-ES" dirty="0"/>
              <a:t>Haremos una ciudad que tiene un parking (semáforo), con 1 plaza, por ejemplo.</a:t>
            </a:r>
          </a:p>
          <a:p>
            <a:r>
              <a:rPr lang="es-ES" dirty="0"/>
              <a:t>Los coches (hilos) darán vueltas a la ciudad (dormir) y cuando terminen de dar una vuelta, intentarán entrar en el parking (semáforo).</a:t>
            </a:r>
          </a:p>
          <a:p>
            <a:r>
              <a:rPr lang="es-ES" dirty="0"/>
              <a:t>Estarán en el parking un lapso de tiempo (dormir) y luego saldrán del parking.</a:t>
            </a:r>
          </a:p>
          <a:p>
            <a:r>
              <a:rPr lang="es-ES" dirty="0"/>
              <a:t>Otro coche que está esperando en la cola del parking asumirá su lugar.</a:t>
            </a:r>
          </a:p>
          <a:p>
            <a:r>
              <a:rPr lang="es-ES" dirty="0"/>
              <a:t>También podemos hacer que si el número de coches esperando en la cola es superior a 5, seguimos dando vueltas por la ciudad.</a:t>
            </a:r>
          </a:p>
          <a:p>
            <a:r>
              <a:rPr lang="es-ES" dirty="0"/>
              <a:t>Podemos probar con distintos números de coches y plazas del parking.</a:t>
            </a:r>
          </a:p>
          <a:p>
            <a:endParaRPr lang="es-ES" sz="3200" dirty="0"/>
          </a:p>
          <a:p>
            <a:pPr lvl="1"/>
            <a:endParaRPr lang="es-ES" sz="2800" dirty="0"/>
          </a:p>
          <a:p>
            <a:pPr lvl="1"/>
            <a:endParaRPr lang="es-ES" sz="2000" dirty="0"/>
          </a:p>
        </p:txBody>
      </p:sp>
      <p:sp>
        <p:nvSpPr>
          <p:cNvPr id="10"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062221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88EEA8BF-AC34-4D10-BDA3-3A3007E142A3}"/>
              </a:ext>
            </a:extLst>
          </p:cNvPr>
          <p:cNvSpPr>
            <a:spLocks noGrp="1"/>
          </p:cNvSpPr>
          <p:nvPr>
            <p:ph type="title"/>
          </p:nvPr>
        </p:nvSpPr>
        <p:spPr>
          <a:xfrm>
            <a:off x="643467" y="321734"/>
            <a:ext cx="10905066" cy="594173"/>
          </a:xfrm>
        </p:spPr>
        <p:txBody>
          <a:bodyPr>
            <a:normAutofit/>
          </a:bodyPr>
          <a:lstStyle/>
          <a:p>
            <a:r>
              <a:rPr lang="es-ES" sz="3600" b="1" u="sng" dirty="0"/>
              <a:t>Utilización de mecanismos de alto nivel: variables atómicas</a:t>
            </a:r>
          </a:p>
        </p:txBody>
      </p:sp>
      <p:sp>
        <p:nvSpPr>
          <p:cNvPr id="3" name="Marcador de contenido 2">
            <a:extLst>
              <a:ext uri="{FF2B5EF4-FFF2-40B4-BE49-F238E27FC236}">
                <a16:creationId xmlns:a16="http://schemas.microsoft.com/office/drawing/2014/main" id="{B3FA1E7A-1131-493D-8FB5-8EC609B3755A}"/>
              </a:ext>
            </a:extLst>
          </p:cNvPr>
          <p:cNvSpPr>
            <a:spLocks noGrp="1"/>
          </p:cNvSpPr>
          <p:nvPr>
            <p:ph idx="1"/>
          </p:nvPr>
        </p:nvSpPr>
        <p:spPr>
          <a:xfrm>
            <a:off x="643467" y="1062322"/>
            <a:ext cx="10905066" cy="5252531"/>
          </a:xfrm>
        </p:spPr>
        <p:txBody>
          <a:bodyPr>
            <a:normAutofit/>
          </a:bodyPr>
          <a:lstStyle/>
          <a:p>
            <a:r>
              <a:rPr lang="es-ES" dirty="0"/>
              <a:t>Si el problema de concurrencia que tenemos que resolver sólo se trata de actualizar una variable numérica compartida, tenemos otras opciones.</a:t>
            </a:r>
          </a:p>
          <a:p>
            <a:pPr lvl="1"/>
            <a:r>
              <a:rPr lang="es-ES" dirty="0"/>
              <a:t>Podemos utilizar clases del paquete </a:t>
            </a:r>
            <a:r>
              <a:rPr lang="es-ES" dirty="0" err="1"/>
              <a:t>java.util.concurrent.atomic</a:t>
            </a:r>
            <a:endParaRPr lang="es-ES" dirty="0"/>
          </a:p>
          <a:p>
            <a:r>
              <a:rPr lang="es-ES" dirty="0"/>
              <a:t>Existen clases de envoltura de tipos de datos básicos, que nos ofrecen herramientas para actualizar de forma atómica los datos</a:t>
            </a:r>
          </a:p>
          <a:p>
            <a:pPr lvl="1"/>
            <a:r>
              <a:rPr lang="es-ES" dirty="0"/>
              <a:t>Por ejemplo:</a:t>
            </a:r>
          </a:p>
          <a:p>
            <a:pPr lvl="2"/>
            <a:r>
              <a:rPr lang="es-ES" dirty="0" err="1"/>
              <a:t>AtomicInteger</a:t>
            </a:r>
            <a:endParaRPr lang="es-ES" dirty="0"/>
          </a:p>
          <a:p>
            <a:pPr lvl="2"/>
            <a:r>
              <a:rPr lang="es-ES" dirty="0" err="1"/>
              <a:t>AtomicBoolean</a:t>
            </a:r>
            <a:endParaRPr lang="es-ES" dirty="0"/>
          </a:p>
          <a:p>
            <a:pPr lvl="2"/>
            <a:r>
              <a:rPr lang="es-ES" dirty="0" err="1"/>
              <a:t>AtomicLong</a:t>
            </a:r>
            <a:endParaRPr lang="es-ES" dirty="0"/>
          </a:p>
          <a:p>
            <a:r>
              <a:rPr lang="es-ES" dirty="0"/>
              <a:t>Ejercicio: en los ejemplos de la cuenta bancaria y el incremento de los gastos, en vez de utilizar monitores </a:t>
            </a:r>
            <a:r>
              <a:rPr lang="es-ES" b="1" i="1" dirty="0" err="1"/>
              <a:t>synchronized</a:t>
            </a:r>
            <a:r>
              <a:rPr lang="es-ES" dirty="0"/>
              <a:t>, utilizar una instancia de </a:t>
            </a:r>
            <a:r>
              <a:rPr lang="es-ES" b="1" dirty="0" err="1"/>
              <a:t>AtomicInteger</a:t>
            </a:r>
            <a:r>
              <a:rPr lang="es-ES" b="1" dirty="0"/>
              <a:t> </a:t>
            </a:r>
            <a:r>
              <a:rPr lang="es-ES" dirty="0"/>
              <a:t>para actualizar el saldo.</a:t>
            </a:r>
          </a:p>
          <a:p>
            <a:endParaRPr lang="es-ES" sz="3200" dirty="0"/>
          </a:p>
          <a:p>
            <a:pPr lvl="1"/>
            <a:endParaRPr lang="es-ES" sz="2800" dirty="0"/>
          </a:p>
          <a:p>
            <a:pPr lvl="1"/>
            <a:endParaRPr lang="es-ES" sz="2000" dirty="0"/>
          </a:p>
        </p:txBody>
      </p:sp>
      <p:sp>
        <p:nvSpPr>
          <p:cNvPr id="10"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476221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AFB00B1-39B0-2D0A-C3D9-E4F6B328A166}"/>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3E53E03E-22B4-0440-FAFB-7D257B1CA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5923C761-1621-4180-36D6-4F4A7E669D9B}"/>
              </a:ext>
            </a:extLst>
          </p:cNvPr>
          <p:cNvSpPr>
            <a:spLocks noGrp="1"/>
          </p:cNvSpPr>
          <p:nvPr>
            <p:ph type="title"/>
          </p:nvPr>
        </p:nvSpPr>
        <p:spPr>
          <a:xfrm>
            <a:off x="643467" y="321734"/>
            <a:ext cx="10905066" cy="594173"/>
          </a:xfrm>
        </p:spPr>
        <p:txBody>
          <a:bodyPr>
            <a:normAutofit fontScale="90000"/>
          </a:bodyPr>
          <a:lstStyle/>
          <a:p>
            <a:r>
              <a:rPr lang="es-ES" sz="3600" b="1" u="sng" dirty="0"/>
              <a:t>Utilización de mecanismos de alto nivel: colecciones atómicas</a:t>
            </a:r>
          </a:p>
        </p:txBody>
      </p:sp>
      <p:sp>
        <p:nvSpPr>
          <p:cNvPr id="3" name="Marcador de contenido 2">
            <a:extLst>
              <a:ext uri="{FF2B5EF4-FFF2-40B4-BE49-F238E27FC236}">
                <a16:creationId xmlns:a16="http://schemas.microsoft.com/office/drawing/2014/main" id="{C0B8E7D9-BCBC-4E8C-39A2-B6309D6CB2BA}"/>
              </a:ext>
            </a:extLst>
          </p:cNvPr>
          <p:cNvSpPr>
            <a:spLocks noGrp="1"/>
          </p:cNvSpPr>
          <p:nvPr>
            <p:ph idx="1"/>
          </p:nvPr>
        </p:nvSpPr>
        <p:spPr>
          <a:xfrm>
            <a:off x="643467" y="1062322"/>
            <a:ext cx="10905066" cy="5252531"/>
          </a:xfrm>
        </p:spPr>
        <p:txBody>
          <a:bodyPr>
            <a:normAutofit/>
          </a:bodyPr>
          <a:lstStyle/>
          <a:p>
            <a:r>
              <a:rPr lang="es-ES" dirty="0"/>
              <a:t>Existen algunas otras estructuras que nos permiten almacenar o generar elementos evitando los problemas que se podrían producir si hay modificaciones o alteraciones de los elementos por accesos concurrentes:</a:t>
            </a:r>
          </a:p>
          <a:p>
            <a:pPr lvl="1"/>
            <a:r>
              <a:rPr lang="es-ES" b="1" dirty="0" err="1"/>
              <a:t>ConcurrentHashMap</a:t>
            </a:r>
            <a:r>
              <a:rPr lang="es-ES" dirty="0"/>
              <a:t>: un </a:t>
            </a:r>
            <a:r>
              <a:rPr lang="es-ES" dirty="0" err="1"/>
              <a:t>hashmap</a:t>
            </a:r>
            <a:r>
              <a:rPr lang="es-ES" dirty="0"/>
              <a:t> que nos permite trabajar con clave-valor que sea resistente a la concurrencia.</a:t>
            </a:r>
          </a:p>
          <a:p>
            <a:pPr lvl="1"/>
            <a:r>
              <a:rPr lang="es-ES" b="1" dirty="0" err="1"/>
              <a:t>ThreadLocalRandom</a:t>
            </a:r>
            <a:r>
              <a:rPr lang="es-ES" dirty="0"/>
              <a:t>: clase que genera números aleatorios en situaciones de concurrencia. Proporciona un rendimiento superior y evita problemas de contención cuando varios hilos generan números aleatorios simultáneamente. Asigna una instancia de </a:t>
            </a:r>
            <a:r>
              <a:rPr lang="es-ES" dirty="0" err="1"/>
              <a:t>Random</a:t>
            </a:r>
            <a:r>
              <a:rPr lang="es-ES" dirty="0"/>
              <a:t> independiente para cada hilo. Además es más rápido que </a:t>
            </a:r>
            <a:r>
              <a:rPr lang="es-ES" dirty="0" err="1"/>
              <a:t>Random</a:t>
            </a:r>
            <a:r>
              <a:rPr lang="es-ES" dirty="0"/>
              <a:t> en entornos concurrentes.</a:t>
            </a:r>
          </a:p>
          <a:p>
            <a:pPr lvl="1"/>
            <a:r>
              <a:rPr lang="es-ES" b="1" dirty="0" err="1"/>
              <a:t>ConcurrentSkipListSet</a:t>
            </a:r>
            <a:r>
              <a:rPr lang="es-ES" dirty="0"/>
              <a:t>: es conjunto ordenado y usa una estructura de </a:t>
            </a:r>
            <a:r>
              <a:rPr lang="es-ES" i="1" dirty="0" err="1"/>
              <a:t>skip</a:t>
            </a:r>
            <a:r>
              <a:rPr lang="es-ES" i="1" dirty="0"/>
              <a:t> </a:t>
            </a:r>
            <a:r>
              <a:rPr lang="es-ES" i="1" dirty="0" err="1"/>
              <a:t>list</a:t>
            </a:r>
            <a:r>
              <a:rPr lang="es-ES" i="1" dirty="0"/>
              <a:t> </a:t>
            </a:r>
            <a:r>
              <a:rPr lang="es-ES" dirty="0"/>
              <a:t>para garantizar que las operaciones de inserción, eliminación y búsqueda sean eficientes y seguras en entornos concurrentes</a:t>
            </a:r>
          </a:p>
          <a:p>
            <a:endParaRPr lang="es-ES" sz="3200" dirty="0"/>
          </a:p>
          <a:p>
            <a:pPr lvl="1"/>
            <a:endParaRPr lang="es-ES" sz="2800" dirty="0"/>
          </a:p>
          <a:p>
            <a:pPr lvl="1"/>
            <a:endParaRPr lang="es-ES" sz="2000" dirty="0"/>
          </a:p>
        </p:txBody>
      </p:sp>
      <p:sp>
        <p:nvSpPr>
          <p:cNvPr id="10" name="Rectangle 9">
            <a:extLst>
              <a:ext uri="{FF2B5EF4-FFF2-40B4-BE49-F238E27FC236}">
                <a16:creationId xmlns:a16="http://schemas.microsoft.com/office/drawing/2014/main" id="{411AFA97-E27C-41BD-4D59-8D5133AEF9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34958D83-1954-5285-37E2-C079A209AF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D03FC449-3C1E-7AE3-8BC4-6E1B08B49E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92446300-D23A-28A6-6F97-E80D46EE50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4491804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88EEA8BF-AC34-4D10-BDA3-3A3007E142A3}"/>
              </a:ext>
            </a:extLst>
          </p:cNvPr>
          <p:cNvSpPr>
            <a:spLocks noGrp="1"/>
          </p:cNvSpPr>
          <p:nvPr>
            <p:ph type="title"/>
          </p:nvPr>
        </p:nvSpPr>
        <p:spPr>
          <a:xfrm>
            <a:off x="643467" y="321734"/>
            <a:ext cx="10905066" cy="594173"/>
          </a:xfrm>
        </p:spPr>
        <p:txBody>
          <a:bodyPr>
            <a:normAutofit/>
          </a:bodyPr>
          <a:lstStyle/>
          <a:p>
            <a:r>
              <a:rPr lang="es-ES" sz="3600" b="1" u="sng" dirty="0"/>
              <a:t>Repaso sincronización de hilos</a:t>
            </a:r>
          </a:p>
        </p:txBody>
      </p:sp>
      <p:sp>
        <p:nvSpPr>
          <p:cNvPr id="3" name="Marcador de contenido 2">
            <a:extLst>
              <a:ext uri="{FF2B5EF4-FFF2-40B4-BE49-F238E27FC236}">
                <a16:creationId xmlns:a16="http://schemas.microsoft.com/office/drawing/2014/main" id="{B3FA1E7A-1131-493D-8FB5-8EC609B3755A}"/>
              </a:ext>
            </a:extLst>
          </p:cNvPr>
          <p:cNvSpPr>
            <a:spLocks noGrp="1"/>
          </p:cNvSpPr>
          <p:nvPr>
            <p:ph idx="1"/>
          </p:nvPr>
        </p:nvSpPr>
        <p:spPr>
          <a:xfrm>
            <a:off x="643467" y="1062322"/>
            <a:ext cx="10905066" cy="5252531"/>
          </a:xfrm>
        </p:spPr>
        <p:txBody>
          <a:bodyPr>
            <a:normAutofit lnSpcReduction="10000"/>
          </a:bodyPr>
          <a:lstStyle/>
          <a:p>
            <a:r>
              <a:rPr lang="es-ES" dirty="0"/>
              <a:t>El problema de la sección crítica consiste en diseñar un protocolo que permita a los procesos cooperar. Cualquier solución al problema de la sección crítica debe cumplir:</a:t>
            </a:r>
          </a:p>
          <a:p>
            <a:pPr lvl="1"/>
            <a:r>
              <a:rPr lang="es-ES" b="1" dirty="0"/>
              <a:t>Exclusión mutua</a:t>
            </a:r>
            <a:r>
              <a:rPr lang="es-ES" dirty="0"/>
              <a:t>: si un proceso está ejecutando su sección crítica, ningún otro proceso puede ejecutar su sección crítica.</a:t>
            </a:r>
          </a:p>
          <a:p>
            <a:pPr lvl="1"/>
            <a:r>
              <a:rPr lang="es-ES" b="1" dirty="0"/>
              <a:t>Progreso</a:t>
            </a:r>
            <a:r>
              <a:rPr lang="es-ES" dirty="0"/>
              <a:t>: si ningún proceso está ejecutando su sección crítica y hay varios procesos que quieren entrar en su sección crítica, solo aquellos procesos que están esperando para entrar pueden participar en la decisión de quién entra definitivamente.</a:t>
            </a:r>
          </a:p>
          <a:p>
            <a:pPr lvl="1"/>
            <a:r>
              <a:rPr lang="es-ES" b="1" dirty="0"/>
              <a:t>Espera limitada</a:t>
            </a:r>
            <a:r>
              <a:rPr lang="es-ES" dirty="0"/>
              <a:t>: debe existir un número limitado de veces que se permite a otros procesos entrar en su sección crítica después de que otro proceso haya solicitado entrar en la suya y antes de que se le conceda.</a:t>
            </a:r>
          </a:p>
          <a:p>
            <a:r>
              <a:rPr lang="es-ES" dirty="0"/>
              <a:t>Para la implementación de la sección crítica se necesita un mecanismo de sincronización que actúe tanto </a:t>
            </a:r>
            <a:r>
              <a:rPr lang="es-ES" b="1" dirty="0"/>
              <a:t>antes </a:t>
            </a:r>
            <a:r>
              <a:rPr lang="es-ES" dirty="0"/>
              <a:t>de entrar en la sección crítica como </a:t>
            </a:r>
            <a:r>
              <a:rPr lang="es-ES" b="1" dirty="0"/>
              <a:t>después </a:t>
            </a:r>
            <a:r>
              <a:rPr lang="es-ES" dirty="0"/>
              <a:t>de salir de ejecutarla.</a:t>
            </a:r>
          </a:p>
          <a:p>
            <a:endParaRPr lang="es-ES" sz="3200" dirty="0"/>
          </a:p>
          <a:p>
            <a:pPr lvl="1"/>
            <a:endParaRPr lang="es-ES" sz="2800" dirty="0"/>
          </a:p>
          <a:p>
            <a:pPr lvl="1"/>
            <a:endParaRPr lang="es-ES" sz="2000" dirty="0"/>
          </a:p>
        </p:txBody>
      </p:sp>
      <p:sp>
        <p:nvSpPr>
          <p:cNvPr id="10"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5639394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88EEA8BF-AC34-4D10-BDA3-3A3007E142A3}"/>
              </a:ext>
            </a:extLst>
          </p:cNvPr>
          <p:cNvSpPr>
            <a:spLocks noGrp="1"/>
          </p:cNvSpPr>
          <p:nvPr>
            <p:ph type="title"/>
          </p:nvPr>
        </p:nvSpPr>
        <p:spPr>
          <a:xfrm>
            <a:off x="643467" y="321734"/>
            <a:ext cx="10905066" cy="594173"/>
          </a:xfrm>
        </p:spPr>
        <p:txBody>
          <a:bodyPr>
            <a:normAutofit/>
          </a:bodyPr>
          <a:lstStyle/>
          <a:p>
            <a:r>
              <a:rPr lang="es-ES" sz="3600" b="1" u="sng" dirty="0"/>
              <a:t>Otros problemas de sincronización de hilos</a:t>
            </a:r>
          </a:p>
        </p:txBody>
      </p:sp>
      <p:sp>
        <p:nvSpPr>
          <p:cNvPr id="3" name="Marcador de contenido 2">
            <a:extLst>
              <a:ext uri="{FF2B5EF4-FFF2-40B4-BE49-F238E27FC236}">
                <a16:creationId xmlns:a16="http://schemas.microsoft.com/office/drawing/2014/main" id="{B3FA1E7A-1131-493D-8FB5-8EC609B3755A}"/>
              </a:ext>
            </a:extLst>
          </p:cNvPr>
          <p:cNvSpPr>
            <a:spLocks noGrp="1"/>
          </p:cNvSpPr>
          <p:nvPr>
            <p:ph idx="1"/>
          </p:nvPr>
        </p:nvSpPr>
        <p:spPr>
          <a:xfrm>
            <a:off x="643467" y="1062322"/>
            <a:ext cx="10905066" cy="5252531"/>
          </a:xfrm>
        </p:spPr>
        <p:txBody>
          <a:bodyPr>
            <a:normAutofit fontScale="92500"/>
          </a:bodyPr>
          <a:lstStyle/>
          <a:p>
            <a:r>
              <a:rPr lang="es-ES" dirty="0"/>
              <a:t>Ya vimos la condición de carrera</a:t>
            </a:r>
          </a:p>
          <a:p>
            <a:pPr lvl="1"/>
            <a:r>
              <a:rPr lang="es-ES" dirty="0"/>
              <a:t>Si el resultado de la ejecución de un programa depende del orden concreto en que se realicen los accesos a memoria</a:t>
            </a:r>
          </a:p>
          <a:p>
            <a:r>
              <a:rPr lang="es-ES" dirty="0"/>
              <a:t>Inconsistencia de memoria</a:t>
            </a:r>
          </a:p>
          <a:p>
            <a:pPr lvl="1"/>
            <a:r>
              <a:rPr lang="es-ES" dirty="0"/>
              <a:t>Se produce cuando diferentes hilos tienen una visión diferente de lo que debería ser el mismo dato.</a:t>
            </a:r>
          </a:p>
          <a:p>
            <a:r>
              <a:rPr lang="es-ES" dirty="0"/>
              <a:t>Inanición</a:t>
            </a:r>
          </a:p>
          <a:p>
            <a:pPr lvl="1"/>
            <a:r>
              <a:rPr lang="es-ES" dirty="0"/>
              <a:t>Cuando un proceso nunca llega a tomar el control de un recurso debido a que el resto siempre toman el control antes que él por diferentes motivos. Por ejemplo, dado un hilo que tenga una prioridad baja, siempre llegan otros hilos de prioridades más altas por lo tanto nunca tendrá oportunidad de adquirir el procesador.</a:t>
            </a:r>
          </a:p>
          <a:p>
            <a:r>
              <a:rPr lang="es-ES" dirty="0"/>
              <a:t>Interbloqueo</a:t>
            </a:r>
          </a:p>
          <a:p>
            <a:pPr lvl="1"/>
            <a:r>
              <a:rPr lang="es-ES" dirty="0"/>
              <a:t>Se produce cuando dos o más procesos o hilos poseen un recurso y están esperando a que se libere otro recurso, poseído por otro hilo que espera el primer recurso.</a:t>
            </a:r>
          </a:p>
          <a:p>
            <a:endParaRPr lang="es-ES" sz="3200" dirty="0"/>
          </a:p>
          <a:p>
            <a:pPr lvl="1"/>
            <a:endParaRPr lang="es-ES" sz="2800" dirty="0"/>
          </a:p>
          <a:p>
            <a:pPr lvl="1"/>
            <a:endParaRPr lang="es-ES" sz="2000" dirty="0"/>
          </a:p>
        </p:txBody>
      </p:sp>
      <p:sp>
        <p:nvSpPr>
          <p:cNvPr id="10"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0482652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88EEA8BF-AC34-4D10-BDA3-3A3007E142A3}"/>
              </a:ext>
            </a:extLst>
          </p:cNvPr>
          <p:cNvSpPr>
            <a:spLocks noGrp="1"/>
          </p:cNvSpPr>
          <p:nvPr>
            <p:ph type="title"/>
          </p:nvPr>
        </p:nvSpPr>
        <p:spPr>
          <a:xfrm>
            <a:off x="643467" y="321734"/>
            <a:ext cx="10905066" cy="594173"/>
          </a:xfrm>
        </p:spPr>
        <p:txBody>
          <a:bodyPr>
            <a:normAutofit/>
          </a:bodyPr>
          <a:lstStyle/>
          <a:p>
            <a:r>
              <a:rPr lang="es-ES" sz="3600" b="1" i="1" u="sng" dirty="0" err="1"/>
              <a:t>Thread</a:t>
            </a:r>
            <a:r>
              <a:rPr lang="es-ES" sz="3600" b="1" i="1" u="sng" dirty="0"/>
              <a:t>-Safety</a:t>
            </a:r>
          </a:p>
        </p:txBody>
      </p:sp>
      <p:sp>
        <p:nvSpPr>
          <p:cNvPr id="3" name="Marcador de contenido 2">
            <a:extLst>
              <a:ext uri="{FF2B5EF4-FFF2-40B4-BE49-F238E27FC236}">
                <a16:creationId xmlns:a16="http://schemas.microsoft.com/office/drawing/2014/main" id="{B3FA1E7A-1131-493D-8FB5-8EC609B3755A}"/>
              </a:ext>
            </a:extLst>
          </p:cNvPr>
          <p:cNvSpPr>
            <a:spLocks noGrp="1"/>
          </p:cNvSpPr>
          <p:nvPr>
            <p:ph idx="1"/>
          </p:nvPr>
        </p:nvSpPr>
        <p:spPr>
          <a:xfrm>
            <a:off x="265923" y="1147708"/>
            <a:ext cx="11289561" cy="5252531"/>
          </a:xfrm>
        </p:spPr>
        <p:txBody>
          <a:bodyPr>
            <a:normAutofit/>
          </a:bodyPr>
          <a:lstStyle/>
          <a:p>
            <a:r>
              <a:rPr lang="es-ES" sz="3200" dirty="0"/>
              <a:t>Una clase se considera </a:t>
            </a:r>
            <a:r>
              <a:rPr lang="es-ES" sz="3200" i="1" dirty="0" err="1"/>
              <a:t>thread-safe</a:t>
            </a:r>
            <a:r>
              <a:rPr lang="es-ES" sz="3200" dirty="0"/>
              <a:t> cuando su uso por parte de varios hilos NO conduce a errores.</a:t>
            </a:r>
          </a:p>
          <a:p>
            <a:r>
              <a:rPr lang="es-ES" sz="3200" dirty="0"/>
              <a:t>Como hemos visto, hay casos en los que si no dotamos a nuestras clases de comportamientos </a:t>
            </a:r>
            <a:r>
              <a:rPr lang="es-ES" sz="3200" dirty="0" err="1"/>
              <a:t>thread-safe</a:t>
            </a:r>
            <a:r>
              <a:rPr lang="es-ES" sz="3200" dirty="0"/>
              <a:t>, su uso en multi hilo puede darnos problemas</a:t>
            </a:r>
          </a:p>
          <a:p>
            <a:r>
              <a:rPr lang="es-ES" sz="3200" dirty="0"/>
              <a:t>Existen distintos mecanismos para lograr ese comportamiento robusto frente al uso por parte de distintos hilos.</a:t>
            </a:r>
          </a:p>
          <a:p>
            <a:pPr lvl="1"/>
            <a:endParaRPr lang="es-ES" sz="2800" dirty="0"/>
          </a:p>
          <a:p>
            <a:pPr lvl="1"/>
            <a:endParaRPr lang="es-ES" sz="2000" dirty="0"/>
          </a:p>
        </p:txBody>
      </p:sp>
      <p:sp>
        <p:nvSpPr>
          <p:cNvPr id="10"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8957568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88EEA8BF-AC34-4D10-BDA3-3A3007E142A3}"/>
              </a:ext>
            </a:extLst>
          </p:cNvPr>
          <p:cNvSpPr>
            <a:spLocks noGrp="1"/>
          </p:cNvSpPr>
          <p:nvPr>
            <p:ph type="title"/>
          </p:nvPr>
        </p:nvSpPr>
        <p:spPr>
          <a:xfrm>
            <a:off x="643467" y="321734"/>
            <a:ext cx="10905066" cy="594173"/>
          </a:xfrm>
        </p:spPr>
        <p:txBody>
          <a:bodyPr>
            <a:normAutofit/>
          </a:bodyPr>
          <a:lstStyle/>
          <a:p>
            <a:r>
              <a:rPr lang="es-ES" sz="3600" b="1" i="1" u="sng" dirty="0" err="1"/>
              <a:t>Thread</a:t>
            </a:r>
            <a:r>
              <a:rPr lang="es-ES" sz="3600" b="1" i="1" u="sng" dirty="0"/>
              <a:t>-Safety: Acercamientos</a:t>
            </a:r>
          </a:p>
        </p:txBody>
      </p:sp>
      <p:sp>
        <p:nvSpPr>
          <p:cNvPr id="3" name="Marcador de contenido 2">
            <a:extLst>
              <a:ext uri="{FF2B5EF4-FFF2-40B4-BE49-F238E27FC236}">
                <a16:creationId xmlns:a16="http://schemas.microsoft.com/office/drawing/2014/main" id="{B3FA1E7A-1131-493D-8FB5-8EC609B3755A}"/>
              </a:ext>
            </a:extLst>
          </p:cNvPr>
          <p:cNvSpPr>
            <a:spLocks noGrp="1"/>
          </p:cNvSpPr>
          <p:nvPr>
            <p:ph idx="1"/>
          </p:nvPr>
        </p:nvSpPr>
        <p:spPr>
          <a:xfrm>
            <a:off x="265923" y="1147708"/>
            <a:ext cx="11289561" cy="5471369"/>
          </a:xfrm>
        </p:spPr>
        <p:txBody>
          <a:bodyPr>
            <a:normAutofit fontScale="92500" lnSpcReduction="20000"/>
          </a:bodyPr>
          <a:lstStyle/>
          <a:p>
            <a:r>
              <a:rPr lang="es-ES" sz="3200" dirty="0"/>
              <a:t>Implementaciones que no tengan ni compartan estado (</a:t>
            </a:r>
            <a:r>
              <a:rPr lang="es-ES" sz="3200" dirty="0" err="1"/>
              <a:t>stateless</a:t>
            </a:r>
            <a:r>
              <a:rPr lang="es-ES" sz="3200" dirty="0"/>
              <a:t>)</a:t>
            </a:r>
          </a:p>
          <a:p>
            <a:pPr lvl="1"/>
            <a:r>
              <a:rPr lang="es-ES" sz="2800" dirty="0"/>
              <a:t>Ejemplo: </a:t>
            </a:r>
          </a:p>
          <a:p>
            <a:pPr lvl="2"/>
            <a:r>
              <a:rPr lang="es-ES" sz="2400" dirty="0"/>
              <a:t>Una clase que realiza un método factorial, y sólo se basa en el input para devolver el resultado.</a:t>
            </a:r>
          </a:p>
          <a:p>
            <a:pPr lvl="2"/>
            <a:r>
              <a:rPr lang="es-ES" sz="2400" dirty="0"/>
              <a:t>Servicios </a:t>
            </a:r>
            <a:r>
              <a:rPr lang="es-ES" sz="2400" i="1" dirty="0" err="1"/>
              <a:t>stateless</a:t>
            </a:r>
            <a:r>
              <a:rPr lang="es-ES" sz="2400" i="1" dirty="0"/>
              <a:t> </a:t>
            </a:r>
            <a:r>
              <a:rPr lang="es-ES" sz="2400" dirty="0"/>
              <a:t>de Spring: cada invocación a un método de la clase depende única y exclusivamente de lo que venga por parámetros o coja de una Base de Datos.</a:t>
            </a:r>
          </a:p>
          <a:p>
            <a:r>
              <a:rPr lang="es-ES" sz="3200" dirty="0"/>
              <a:t>Implementaciones inmutables</a:t>
            </a:r>
          </a:p>
          <a:p>
            <a:pPr lvl="1"/>
            <a:r>
              <a:rPr lang="es-ES" sz="2800" dirty="0"/>
              <a:t>Una clase es inmutable cuando su estado interno no puede ser modificado una vez construido.</a:t>
            </a:r>
          </a:p>
          <a:p>
            <a:pPr lvl="1"/>
            <a:r>
              <a:rPr lang="es-ES" sz="2800" dirty="0"/>
              <a:t>Por </a:t>
            </a:r>
            <a:r>
              <a:rPr lang="es-ES" sz="2800" dirty="0" err="1"/>
              <a:t>ej</a:t>
            </a:r>
            <a:r>
              <a:rPr lang="es-ES" sz="2800" dirty="0"/>
              <a:t>: clases del </a:t>
            </a:r>
            <a:r>
              <a:rPr lang="es-ES" sz="2800" dirty="0" err="1"/>
              <a:t>framework</a:t>
            </a:r>
            <a:r>
              <a:rPr lang="es-ES" sz="2800" dirty="0"/>
              <a:t>, como </a:t>
            </a:r>
            <a:r>
              <a:rPr lang="es-ES" sz="2800" dirty="0" err="1"/>
              <a:t>String</a:t>
            </a:r>
            <a:r>
              <a:rPr lang="es-ES" sz="2800" dirty="0"/>
              <a:t>.</a:t>
            </a:r>
          </a:p>
          <a:p>
            <a:r>
              <a:rPr lang="es-ES" sz="3200" dirty="0"/>
              <a:t>Colecciones concurrentes</a:t>
            </a:r>
          </a:p>
          <a:p>
            <a:pPr lvl="1"/>
            <a:r>
              <a:rPr lang="es-ES" sz="2800" dirty="0"/>
              <a:t>Usando clases del paquete </a:t>
            </a:r>
            <a:r>
              <a:rPr lang="es-ES" sz="2800" dirty="0" err="1"/>
              <a:t>java.útil.concurrent</a:t>
            </a:r>
            <a:endParaRPr lang="es-ES" sz="2800" dirty="0"/>
          </a:p>
          <a:p>
            <a:r>
              <a:rPr lang="es-ES" sz="3200" dirty="0"/>
              <a:t>Objetos atómicos (</a:t>
            </a:r>
            <a:r>
              <a:rPr lang="es-ES" sz="3200" dirty="0" err="1"/>
              <a:t>AtomicInteger</a:t>
            </a:r>
            <a:r>
              <a:rPr lang="es-ES" sz="3200" dirty="0"/>
              <a:t>, </a:t>
            </a:r>
            <a:r>
              <a:rPr lang="es-ES" sz="3200" dirty="0" err="1"/>
              <a:t>AtomicLong</a:t>
            </a:r>
            <a:r>
              <a:rPr lang="es-ES" sz="3200" dirty="0"/>
              <a:t>…)</a:t>
            </a:r>
          </a:p>
          <a:p>
            <a:r>
              <a:rPr lang="es-ES" sz="3200" dirty="0"/>
              <a:t>Métodos sincronizados (</a:t>
            </a:r>
            <a:r>
              <a:rPr lang="es-ES" sz="3200" dirty="0" err="1"/>
              <a:t>synchronized</a:t>
            </a:r>
            <a:r>
              <a:rPr lang="es-ES" sz="3200" dirty="0"/>
              <a:t>)</a:t>
            </a:r>
          </a:p>
          <a:p>
            <a:pPr lvl="1"/>
            <a:r>
              <a:rPr lang="es-ES" sz="2800" dirty="0"/>
              <a:t>(Ver siguiente diapo)</a:t>
            </a:r>
          </a:p>
          <a:p>
            <a:pPr lvl="1"/>
            <a:endParaRPr lang="es-ES" sz="2800" dirty="0"/>
          </a:p>
          <a:p>
            <a:pPr lvl="1"/>
            <a:endParaRPr lang="es-ES" sz="2800" dirty="0"/>
          </a:p>
          <a:p>
            <a:pPr lvl="1"/>
            <a:endParaRPr lang="es-ES" sz="2000" dirty="0"/>
          </a:p>
        </p:txBody>
      </p:sp>
      <p:sp>
        <p:nvSpPr>
          <p:cNvPr id="10"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5636002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88EEA8BF-AC34-4D10-BDA3-3A3007E142A3}"/>
              </a:ext>
            </a:extLst>
          </p:cNvPr>
          <p:cNvSpPr>
            <a:spLocks noGrp="1"/>
          </p:cNvSpPr>
          <p:nvPr>
            <p:ph type="title"/>
          </p:nvPr>
        </p:nvSpPr>
        <p:spPr>
          <a:xfrm>
            <a:off x="643467" y="321734"/>
            <a:ext cx="10905066" cy="594173"/>
          </a:xfrm>
        </p:spPr>
        <p:txBody>
          <a:bodyPr>
            <a:normAutofit/>
          </a:bodyPr>
          <a:lstStyle/>
          <a:p>
            <a:r>
              <a:rPr lang="es-ES" sz="3600" b="1" i="1" u="sng" dirty="0" err="1"/>
              <a:t>Thread</a:t>
            </a:r>
            <a:r>
              <a:rPr lang="es-ES" sz="3600" b="1" i="1" u="sng" dirty="0"/>
              <a:t>-Safety: Acercamientos</a:t>
            </a:r>
          </a:p>
        </p:txBody>
      </p:sp>
      <p:sp>
        <p:nvSpPr>
          <p:cNvPr id="3" name="Marcador de contenido 2">
            <a:extLst>
              <a:ext uri="{FF2B5EF4-FFF2-40B4-BE49-F238E27FC236}">
                <a16:creationId xmlns:a16="http://schemas.microsoft.com/office/drawing/2014/main" id="{B3FA1E7A-1131-493D-8FB5-8EC609B3755A}"/>
              </a:ext>
            </a:extLst>
          </p:cNvPr>
          <p:cNvSpPr>
            <a:spLocks noGrp="1"/>
          </p:cNvSpPr>
          <p:nvPr>
            <p:ph idx="1"/>
          </p:nvPr>
        </p:nvSpPr>
        <p:spPr>
          <a:xfrm>
            <a:off x="265923" y="1147708"/>
            <a:ext cx="11289561" cy="5471369"/>
          </a:xfrm>
        </p:spPr>
        <p:txBody>
          <a:bodyPr>
            <a:normAutofit/>
          </a:bodyPr>
          <a:lstStyle/>
          <a:p>
            <a:r>
              <a:rPr lang="es-ES" sz="3200" dirty="0"/>
              <a:t>Métodos sincronizados (</a:t>
            </a:r>
            <a:r>
              <a:rPr lang="es-ES" sz="3200" dirty="0" err="1"/>
              <a:t>synchronized</a:t>
            </a:r>
            <a:r>
              <a:rPr lang="es-ES" sz="3200" dirty="0"/>
              <a:t>)</a:t>
            </a:r>
          </a:p>
          <a:p>
            <a:pPr lvl="1"/>
            <a:r>
              <a:rPr lang="es-ES" sz="2800" dirty="0"/>
              <a:t>Las clases que hemos hecho, son usadas entre varios hilos</a:t>
            </a:r>
          </a:p>
          <a:p>
            <a:pPr lvl="1"/>
            <a:r>
              <a:rPr lang="es-ES" sz="2800" dirty="0"/>
              <a:t>Implementan técnicas de sincronización como métodos sincronizados o fragmentos sincronizados</a:t>
            </a:r>
          </a:p>
          <a:p>
            <a:pPr lvl="1"/>
            <a:r>
              <a:rPr lang="es-ES" sz="2800" dirty="0"/>
              <a:t>Protegen los valores internos de ser modificados incorrectamente cuando se usan con varios hilos</a:t>
            </a:r>
          </a:p>
          <a:p>
            <a:pPr lvl="1"/>
            <a:r>
              <a:rPr lang="es-ES" sz="2800" dirty="0"/>
              <a:t>Por lo tanto, hemos creado clases </a:t>
            </a:r>
            <a:r>
              <a:rPr lang="es-ES" sz="2800" b="1" i="1" dirty="0" err="1"/>
              <a:t>thread-safe</a:t>
            </a:r>
            <a:endParaRPr lang="es-ES" sz="2800" b="1" i="1" dirty="0"/>
          </a:p>
          <a:p>
            <a:pPr lvl="1"/>
            <a:r>
              <a:rPr lang="es-ES" sz="2800" dirty="0"/>
              <a:t>¡Enhorabuena!</a:t>
            </a:r>
          </a:p>
          <a:p>
            <a:pPr lvl="1"/>
            <a:endParaRPr lang="es-ES" sz="2800" dirty="0"/>
          </a:p>
          <a:p>
            <a:pPr lvl="1"/>
            <a:endParaRPr lang="es-ES" sz="2800" dirty="0"/>
          </a:p>
          <a:p>
            <a:pPr lvl="1"/>
            <a:endParaRPr lang="es-ES" sz="2000" dirty="0"/>
          </a:p>
        </p:txBody>
      </p:sp>
      <p:sp>
        <p:nvSpPr>
          <p:cNvPr id="10"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6446805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88EEA8BF-AC34-4D10-BDA3-3A3007E142A3}"/>
              </a:ext>
            </a:extLst>
          </p:cNvPr>
          <p:cNvSpPr>
            <a:spLocks noGrp="1"/>
          </p:cNvSpPr>
          <p:nvPr>
            <p:ph type="title"/>
          </p:nvPr>
        </p:nvSpPr>
        <p:spPr>
          <a:xfrm>
            <a:off x="643467" y="321734"/>
            <a:ext cx="10905066" cy="594173"/>
          </a:xfrm>
        </p:spPr>
        <p:txBody>
          <a:bodyPr>
            <a:normAutofit/>
          </a:bodyPr>
          <a:lstStyle/>
          <a:p>
            <a:r>
              <a:rPr lang="es-ES" sz="3600" b="1" i="1" u="sng" dirty="0" err="1"/>
              <a:t>Thread</a:t>
            </a:r>
            <a:r>
              <a:rPr lang="es-ES" sz="3600" b="1" i="1" u="sng" dirty="0"/>
              <a:t>-Safety: Acercamientos</a:t>
            </a:r>
          </a:p>
        </p:txBody>
      </p:sp>
      <p:sp>
        <p:nvSpPr>
          <p:cNvPr id="3" name="Marcador de contenido 2">
            <a:extLst>
              <a:ext uri="{FF2B5EF4-FFF2-40B4-BE49-F238E27FC236}">
                <a16:creationId xmlns:a16="http://schemas.microsoft.com/office/drawing/2014/main" id="{B3FA1E7A-1131-493D-8FB5-8EC609B3755A}"/>
              </a:ext>
            </a:extLst>
          </p:cNvPr>
          <p:cNvSpPr>
            <a:spLocks noGrp="1"/>
          </p:cNvSpPr>
          <p:nvPr>
            <p:ph idx="1"/>
          </p:nvPr>
        </p:nvSpPr>
        <p:spPr>
          <a:xfrm>
            <a:off x="265923" y="1147708"/>
            <a:ext cx="11289561" cy="5471369"/>
          </a:xfrm>
        </p:spPr>
        <p:txBody>
          <a:bodyPr>
            <a:normAutofit/>
          </a:bodyPr>
          <a:lstStyle/>
          <a:p>
            <a:r>
              <a:rPr lang="es-ES" sz="3200" dirty="0"/>
              <a:t>Métodos sincronizados (</a:t>
            </a:r>
            <a:r>
              <a:rPr lang="es-ES" sz="3200" dirty="0" err="1"/>
              <a:t>synchronized</a:t>
            </a:r>
            <a:r>
              <a:rPr lang="es-ES" sz="3200" dirty="0"/>
              <a:t>)</a:t>
            </a:r>
          </a:p>
          <a:p>
            <a:pPr lvl="1"/>
            <a:r>
              <a:rPr lang="es-ES" sz="2800" dirty="0"/>
              <a:t>Las clases que hemos hecho, son usadas entre varios hilos</a:t>
            </a:r>
          </a:p>
          <a:p>
            <a:pPr lvl="1"/>
            <a:r>
              <a:rPr lang="es-ES" sz="2800" dirty="0"/>
              <a:t>Implementan técnicas de sincronización como métodos sincronizados o fragmentos sincronizados</a:t>
            </a:r>
          </a:p>
          <a:p>
            <a:pPr lvl="1"/>
            <a:r>
              <a:rPr lang="es-ES" sz="2800" dirty="0"/>
              <a:t>Protegen los valores internos de ser modificados incorrectamente cuando se usan con varios hilos</a:t>
            </a:r>
          </a:p>
          <a:p>
            <a:pPr lvl="1"/>
            <a:r>
              <a:rPr lang="es-ES" sz="2800" dirty="0"/>
              <a:t>Por lo tanto, hemos creado clases </a:t>
            </a:r>
            <a:r>
              <a:rPr lang="es-ES" sz="2800" b="1" i="1" dirty="0" err="1"/>
              <a:t>thread-safe</a:t>
            </a:r>
            <a:endParaRPr lang="es-ES" sz="2800" b="1" i="1" dirty="0"/>
          </a:p>
          <a:p>
            <a:pPr lvl="1"/>
            <a:r>
              <a:rPr lang="es-ES" sz="2800" dirty="0"/>
              <a:t>¡Enhorabuena!</a:t>
            </a:r>
          </a:p>
          <a:p>
            <a:pPr lvl="1"/>
            <a:endParaRPr lang="es-ES" sz="2800" dirty="0"/>
          </a:p>
          <a:p>
            <a:pPr lvl="1"/>
            <a:endParaRPr lang="es-ES" sz="2800" dirty="0"/>
          </a:p>
          <a:p>
            <a:pPr lvl="1"/>
            <a:endParaRPr lang="es-ES" sz="2000" dirty="0"/>
          </a:p>
        </p:txBody>
      </p:sp>
      <p:sp>
        <p:nvSpPr>
          <p:cNvPr id="10"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394567351"/>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1640</TotalTime>
  <Words>2671</Words>
  <Application>Microsoft Office PowerPoint</Application>
  <PresentationFormat>Panorámica</PresentationFormat>
  <Paragraphs>289</Paragraphs>
  <Slides>26</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26</vt:i4>
      </vt:variant>
    </vt:vector>
  </HeadingPairs>
  <TitlesOfParts>
    <vt:vector size="33" baseType="lpstr">
      <vt:lpstr>Arial</vt:lpstr>
      <vt:lpstr>Arial MT</vt:lpstr>
      <vt:lpstr>Calibri</vt:lpstr>
      <vt:lpstr>Calibri Light</vt:lpstr>
      <vt:lpstr>Consolas</vt:lpstr>
      <vt:lpstr>Wingdings</vt:lpstr>
      <vt:lpstr>Tema de Office</vt:lpstr>
      <vt:lpstr>Programación de Servicios y Procesos UT1 Programación multihilo</vt:lpstr>
      <vt:lpstr>¿Qué es un hilo (thread)?</vt:lpstr>
      <vt:lpstr>¿Por qué usar hilos (threads)?</vt:lpstr>
      <vt:lpstr>Características de un hilo (thread)</vt:lpstr>
      <vt:lpstr>Formas de crear y arrancar hilos</vt:lpstr>
      <vt:lpstr>Formas de crear y arrancar hilos</vt:lpstr>
      <vt:lpstr>Formas de crear y arrancar hilos</vt:lpstr>
      <vt:lpstr>Espera de hilos</vt:lpstr>
      <vt:lpstr>Ejercicio: carreras</vt:lpstr>
      <vt:lpstr>Estados de un hilo</vt:lpstr>
      <vt:lpstr>Estados de un hilo</vt:lpstr>
      <vt:lpstr>Sincronización de hilos: Exclusión mutua y condición de carrera</vt:lpstr>
      <vt:lpstr>Sincronización de hilos: Exclusión mutua y condición de carrera</vt:lpstr>
      <vt:lpstr>Sincronización de hilos: Exclusión mutua y condición de carrera</vt:lpstr>
      <vt:lpstr>Sincronización de hilos: Monitores</vt:lpstr>
      <vt:lpstr>Sincronización de hilos: Monitores</vt:lpstr>
      <vt:lpstr>Sincronización de hilos: Semáforos</vt:lpstr>
      <vt:lpstr>Sincronización de hilos: Semáforos</vt:lpstr>
      <vt:lpstr>Utilización de mecanismos de alto nivel: variables atómicas</vt:lpstr>
      <vt:lpstr>Utilización de mecanismos de alto nivel: colecciones atómicas</vt:lpstr>
      <vt:lpstr>Repaso sincronización de hilos</vt:lpstr>
      <vt:lpstr>Otros problemas de sincronización de hilos</vt:lpstr>
      <vt:lpstr>Thread-Safety</vt:lpstr>
      <vt:lpstr>Thread-Safety: Acercamientos</vt:lpstr>
      <vt:lpstr>Thread-Safety: Acercamientos</vt:lpstr>
      <vt:lpstr>Thread-Safety: Acercamientos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Programación de Servicios y Procesos</dc:title>
  <dc:creator>Diana González</dc:creator>
  <cp:lastModifiedBy>diego.digionantonio@gmail.com</cp:lastModifiedBy>
  <cp:revision>66</cp:revision>
  <dcterms:created xsi:type="dcterms:W3CDTF">2021-09-06T10:23:14Z</dcterms:created>
  <dcterms:modified xsi:type="dcterms:W3CDTF">2026-09-10T19:50:29Z</dcterms:modified>
</cp:coreProperties>
</file>